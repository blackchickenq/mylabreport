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998" r:id="rId3"/>
    <p:sldId id="963" r:id="rId4"/>
    <p:sldId id="964" r:id="rId5"/>
    <p:sldId id="1081" r:id="rId6"/>
    <p:sldId id="1083" r:id="rId7"/>
    <p:sldId id="1084" r:id="rId8"/>
    <p:sldId id="1085" r:id="rId9"/>
    <p:sldId id="1091" r:id="rId10"/>
    <p:sldId id="1092" r:id="rId11"/>
    <p:sldId id="1093" r:id="rId12"/>
    <p:sldId id="1094" r:id="rId13"/>
    <p:sldId id="1095" r:id="rId14"/>
    <p:sldId id="101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odongdongzjhw" initials="g" lastIdx="16" clrIdx="0"/>
  <p:cmAuthor id="2" name="Wuqijun" initials="W" lastIdx="7" clrIdx="1"/>
  <p:cmAuthor id="3" name="PAN, Haoyuan" initials="PH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9D6"/>
    <a:srgbClr val="E7429D"/>
    <a:srgbClr val="898C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846"/>
  </p:normalViewPr>
  <p:slideViewPr>
    <p:cSldViewPr showGuides="1">
      <p:cViewPr varScale="1">
        <p:scale>
          <a:sx n="112" d="100"/>
          <a:sy n="112" d="100"/>
        </p:scale>
        <p:origin x="576" y="200"/>
      </p:cViewPr>
      <p:guideLst>
        <p:guide orient="horz" pos="21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02-14T18:10:24.351" idx="1">
    <p:pos x="7680" y="2246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10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1】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704215"/>
            <a:ext cx="12192847" cy="4598035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4365105"/>
            <a:ext cx="12192000" cy="817117"/>
          </a:xfrm>
          <a:prstGeom prst="rect">
            <a:avLst/>
          </a:pr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spc="200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实验一：</a:t>
            </a:r>
            <a:r>
              <a:rPr lang="en-US" altLang="zh-CN" sz="3600" spc="200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600" spc="200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编程基础</a:t>
            </a:r>
            <a:endParaRPr lang="zh-CN" altLang="en-US" sz="3600" spc="200" baseline="0" dirty="0">
              <a:solidFill>
                <a:schemeClr val="accent4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3565252"/>
            <a:ext cx="12192000" cy="871860"/>
          </a:xfrm>
          <a:solidFill>
            <a:srgbClr val="28A9D6"/>
          </a:solidFill>
        </p:spPr>
        <p:txBody>
          <a:bodyPr anchor="b"/>
          <a:lstStyle>
            <a:lvl1pPr algn="ctr">
              <a:defRPr sz="45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课程代码课程名称</a:t>
            </a:r>
            <a:endParaRPr lang="zh-CN" altLang="en-US" dirty="0"/>
          </a:p>
        </p:txBody>
      </p:sp>
      <p:sp>
        <p:nvSpPr>
          <p:cNvPr id="22" name="直接连接符 27"/>
          <p:cNvSpPr/>
          <p:nvPr userDrawn="1"/>
        </p:nvSpPr>
        <p:spPr>
          <a:xfrm>
            <a:off x="0" y="5441950"/>
            <a:ext cx="4320117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3" name="直接连接符 29"/>
          <p:cNvSpPr/>
          <p:nvPr userDrawn="1"/>
        </p:nvSpPr>
        <p:spPr>
          <a:xfrm>
            <a:off x="0" y="5507038"/>
            <a:ext cx="4320117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4" name="直接连接符 31"/>
          <p:cNvSpPr/>
          <p:nvPr userDrawn="1"/>
        </p:nvSpPr>
        <p:spPr>
          <a:xfrm>
            <a:off x="0" y="5573713"/>
            <a:ext cx="4320117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5" name="直接连接符 39"/>
          <p:cNvSpPr/>
          <p:nvPr userDrawn="1"/>
        </p:nvSpPr>
        <p:spPr>
          <a:xfrm>
            <a:off x="7871885" y="5441950"/>
            <a:ext cx="4320116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6" name="直接连接符 40"/>
          <p:cNvSpPr/>
          <p:nvPr userDrawn="1"/>
        </p:nvSpPr>
        <p:spPr>
          <a:xfrm>
            <a:off x="7871885" y="5507038"/>
            <a:ext cx="4320116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7" name="直接连接符 41"/>
          <p:cNvSpPr/>
          <p:nvPr userDrawn="1"/>
        </p:nvSpPr>
        <p:spPr>
          <a:xfrm>
            <a:off x="7871885" y="5573713"/>
            <a:ext cx="4320116" cy="12700"/>
          </a:xfrm>
          <a:prstGeom prst="line">
            <a:avLst/>
          </a:prstGeom>
          <a:ln w="3175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5】第X章 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527382" y="1556792"/>
            <a:ext cx="11137237" cy="2448272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ea"/>
              <a:buAutoNum type="ea1JpnChsDbPeriod"/>
              <a:defRPr sz="2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dirty="0"/>
              <a:t>重点内容1</a:t>
            </a:r>
            <a:endParaRPr lang="en-US" altLang="zh-CN" dirty="0"/>
          </a:p>
          <a:p>
            <a:pPr lvl="0"/>
            <a:r>
              <a:rPr lang="en-US" altLang="zh-CN" dirty="0"/>
              <a:t>重点内容2</a:t>
            </a:r>
            <a:endParaRPr lang="en-US" altLang="zh-CN" dirty="0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989100" y="548680"/>
            <a:ext cx="4213800" cy="700405"/>
            <a:chOff x="990" y="998"/>
            <a:chExt cx="6469" cy="1103"/>
          </a:xfrm>
        </p:grpSpPr>
        <p:grpSp>
          <p:nvGrpSpPr>
            <p:cNvPr id="7" name="组合 1"/>
            <p:cNvGrpSpPr/>
            <p:nvPr userDrawn="1"/>
          </p:nvGrpSpPr>
          <p:grpSpPr>
            <a:xfrm>
              <a:off x="990" y="1085"/>
              <a:ext cx="873" cy="928"/>
              <a:chOff x="4157663" y="1490663"/>
              <a:chExt cx="3880536" cy="3881512"/>
            </a:xfrm>
          </p:grpSpPr>
          <p:sp>
            <p:nvSpPr>
              <p:cNvPr id="8" name="Freeform 5"/>
              <p:cNvSpPr>
                <a:spLocks noEditPoints="1"/>
              </p:cNvSpPr>
              <p:nvPr/>
            </p:nvSpPr>
            <p:spPr>
              <a:xfrm>
                <a:off x="4157663" y="2365378"/>
                <a:ext cx="3102866" cy="3006797"/>
              </a:xfrm>
              <a:custGeom>
                <a:avLst/>
                <a:gdLst/>
                <a:ahLst/>
                <a:cxnLst>
                  <a:cxn ang="0">
                    <a:pos x="72175" y="2454642"/>
                  </a:cxn>
                  <a:cxn ang="0">
                    <a:pos x="140106" y="2174354"/>
                  </a:cxn>
                  <a:cxn ang="0">
                    <a:pos x="275966" y="1991742"/>
                  </a:cxn>
                  <a:cxn ang="0">
                    <a:pos x="475511" y="1851599"/>
                  </a:cxn>
                  <a:cxn ang="0">
                    <a:pos x="649582" y="1371712"/>
                  </a:cxn>
                  <a:cxn ang="0">
                    <a:pos x="751478" y="1189100"/>
                  </a:cxn>
                  <a:cxn ang="0">
                    <a:pos x="1129340" y="327002"/>
                  </a:cxn>
                  <a:cxn ang="0">
                    <a:pos x="2623805" y="276041"/>
                  </a:cxn>
                  <a:cxn ang="0">
                    <a:pos x="2662016" y="314262"/>
                  </a:cxn>
                  <a:cxn ang="0">
                    <a:pos x="2678998" y="1877079"/>
                  </a:cxn>
                  <a:cxn ang="0">
                    <a:pos x="1817134" y="2255043"/>
                  </a:cxn>
                  <a:cxn ang="0">
                    <a:pos x="1634571" y="2356966"/>
                  </a:cxn>
                  <a:cxn ang="0">
                    <a:pos x="1154814" y="2526838"/>
                  </a:cxn>
                  <a:cxn ang="0">
                    <a:pos x="1014708" y="2726437"/>
                  </a:cxn>
                  <a:cxn ang="0">
                    <a:pos x="832145" y="2866581"/>
                  </a:cxn>
                  <a:cxn ang="0">
                    <a:pos x="551933" y="2934529"/>
                  </a:cxn>
                  <a:cxn ang="0">
                    <a:pos x="84912" y="2734930"/>
                  </a:cxn>
                  <a:cxn ang="0">
                    <a:pos x="2615314" y="365223"/>
                  </a:cxn>
                  <a:cxn ang="0">
                    <a:pos x="2577103" y="331249"/>
                  </a:cxn>
                  <a:cxn ang="0">
                    <a:pos x="1180287" y="377964"/>
                  </a:cxn>
                  <a:cxn ang="0">
                    <a:pos x="819408" y="1201840"/>
                  </a:cxn>
                  <a:cxn ang="0">
                    <a:pos x="704776" y="1414179"/>
                  </a:cxn>
                  <a:cxn ang="0">
                    <a:pos x="547687" y="1872832"/>
                  </a:cxn>
                  <a:cxn ang="0">
                    <a:pos x="564670" y="1949275"/>
                  </a:cxn>
                  <a:cxn ang="0">
                    <a:pos x="377861" y="1957768"/>
                  </a:cxn>
                  <a:cxn ang="0">
                    <a:pos x="339651" y="2051197"/>
                  </a:cxn>
                  <a:cxn ang="0">
                    <a:pos x="246247" y="2089419"/>
                  </a:cxn>
                  <a:cxn ang="0">
                    <a:pos x="212282" y="2216822"/>
                  </a:cxn>
                  <a:cxn ang="0">
                    <a:pos x="152843" y="2255043"/>
                  </a:cxn>
                  <a:cxn ang="0">
                    <a:pos x="169825" y="2463136"/>
                  </a:cxn>
                  <a:cxn ang="0">
                    <a:pos x="131614" y="2492863"/>
                  </a:cxn>
                  <a:cxn ang="0">
                    <a:pos x="318423" y="2870827"/>
                  </a:cxn>
                  <a:cxn ang="0">
                    <a:pos x="534950" y="2849593"/>
                  </a:cxn>
                  <a:cxn ang="0">
                    <a:pos x="556178" y="2853840"/>
                  </a:cxn>
                  <a:cxn ang="0">
                    <a:pos x="785443" y="2802879"/>
                  </a:cxn>
                  <a:cxn ang="0">
                    <a:pos x="798180" y="2794385"/>
                  </a:cxn>
                  <a:cxn ang="0">
                    <a:pos x="955269" y="2675475"/>
                  </a:cxn>
                  <a:cxn ang="0">
                    <a:pos x="963760" y="2666982"/>
                  </a:cxn>
                  <a:cxn ang="0">
                    <a:pos x="1069901" y="2463136"/>
                  </a:cxn>
                  <a:cxn ang="0">
                    <a:pos x="1082638" y="2446149"/>
                  </a:cxn>
                  <a:cxn ang="0">
                    <a:pos x="1477482" y="2378200"/>
                  </a:cxn>
                  <a:cxn ang="0">
                    <a:pos x="1795905" y="2187095"/>
                  </a:cxn>
                  <a:cxn ang="0">
                    <a:pos x="2369067" y="2017223"/>
                  </a:cxn>
                  <a:cxn ang="0">
                    <a:pos x="2628051" y="377964"/>
                  </a:cxn>
                </a:cxnLst>
                <a:rect l="0" t="0" r="0" b="0"/>
                <a:pathLst>
                  <a:path w="731" h="708">
                    <a:moveTo>
                      <a:pt x="20" y="644"/>
                    </a:moveTo>
                    <a:cubicBezTo>
                      <a:pt x="1" y="626"/>
                      <a:pt x="0" y="597"/>
                      <a:pt x="17" y="578"/>
                    </a:cubicBezTo>
                    <a:cubicBezTo>
                      <a:pt x="6" y="559"/>
                      <a:pt x="9" y="534"/>
                      <a:pt x="24" y="519"/>
                    </a:cubicBezTo>
                    <a:cubicBezTo>
                      <a:pt x="27" y="516"/>
                      <a:pt x="29" y="514"/>
                      <a:pt x="33" y="512"/>
                    </a:cubicBezTo>
                    <a:cubicBezTo>
                      <a:pt x="33" y="500"/>
                      <a:pt x="38" y="489"/>
                      <a:pt x="47" y="480"/>
                    </a:cubicBezTo>
                    <a:cubicBezTo>
                      <a:pt x="52" y="475"/>
                      <a:pt x="58" y="471"/>
                      <a:pt x="65" y="469"/>
                    </a:cubicBezTo>
                    <a:cubicBezTo>
                      <a:pt x="68" y="461"/>
                      <a:pt x="72" y="455"/>
                      <a:pt x="77" y="450"/>
                    </a:cubicBezTo>
                    <a:cubicBezTo>
                      <a:pt x="86" y="440"/>
                      <a:pt x="99" y="435"/>
                      <a:pt x="112" y="436"/>
                    </a:cubicBezTo>
                    <a:cubicBezTo>
                      <a:pt x="111" y="406"/>
                      <a:pt x="118" y="376"/>
                      <a:pt x="133" y="351"/>
                    </a:cubicBezTo>
                    <a:cubicBezTo>
                      <a:pt x="139" y="341"/>
                      <a:pt x="146" y="332"/>
                      <a:pt x="153" y="323"/>
                    </a:cubicBezTo>
                    <a:cubicBezTo>
                      <a:pt x="163" y="310"/>
                      <a:pt x="174" y="296"/>
                      <a:pt x="177" y="281"/>
                    </a:cubicBezTo>
                    <a:cubicBezTo>
                      <a:pt x="177" y="280"/>
                      <a:pt x="177" y="280"/>
                      <a:pt x="177" y="280"/>
                    </a:cubicBezTo>
                    <a:cubicBezTo>
                      <a:pt x="188" y="226"/>
                      <a:pt x="196" y="184"/>
                      <a:pt x="218" y="142"/>
                    </a:cubicBezTo>
                    <a:cubicBezTo>
                      <a:pt x="230" y="119"/>
                      <a:pt x="246" y="97"/>
                      <a:pt x="266" y="77"/>
                    </a:cubicBezTo>
                    <a:cubicBezTo>
                      <a:pt x="313" y="31"/>
                      <a:pt x="375" y="4"/>
                      <a:pt x="440" y="2"/>
                    </a:cubicBezTo>
                    <a:cubicBezTo>
                      <a:pt x="506" y="0"/>
                      <a:pt x="569" y="22"/>
                      <a:pt x="618" y="65"/>
                    </a:cubicBezTo>
                    <a:cubicBezTo>
                      <a:pt x="620" y="67"/>
                      <a:pt x="622" y="69"/>
                      <a:pt x="624" y="71"/>
                    </a:cubicBezTo>
                    <a:cubicBezTo>
                      <a:pt x="625" y="72"/>
                      <a:pt x="626" y="73"/>
                      <a:pt x="627" y="74"/>
                    </a:cubicBezTo>
                    <a:cubicBezTo>
                      <a:pt x="629" y="75"/>
                      <a:pt x="630" y="76"/>
                      <a:pt x="631" y="77"/>
                    </a:cubicBezTo>
                    <a:cubicBezTo>
                      <a:pt x="731" y="178"/>
                      <a:pt x="731" y="341"/>
                      <a:pt x="631" y="442"/>
                    </a:cubicBezTo>
                    <a:cubicBezTo>
                      <a:pt x="610" y="462"/>
                      <a:pt x="589" y="478"/>
                      <a:pt x="565" y="490"/>
                    </a:cubicBezTo>
                    <a:cubicBezTo>
                      <a:pt x="524" y="511"/>
                      <a:pt x="482" y="520"/>
                      <a:pt x="428" y="531"/>
                    </a:cubicBezTo>
                    <a:cubicBezTo>
                      <a:pt x="427" y="531"/>
                      <a:pt x="427" y="531"/>
                      <a:pt x="427" y="531"/>
                    </a:cubicBezTo>
                    <a:cubicBezTo>
                      <a:pt x="412" y="534"/>
                      <a:pt x="398" y="545"/>
                      <a:pt x="385" y="555"/>
                    </a:cubicBezTo>
                    <a:cubicBezTo>
                      <a:pt x="375" y="562"/>
                      <a:pt x="367" y="569"/>
                      <a:pt x="357" y="575"/>
                    </a:cubicBezTo>
                    <a:cubicBezTo>
                      <a:pt x="331" y="590"/>
                      <a:pt x="302" y="597"/>
                      <a:pt x="272" y="595"/>
                    </a:cubicBezTo>
                    <a:cubicBezTo>
                      <a:pt x="272" y="609"/>
                      <a:pt x="267" y="621"/>
                      <a:pt x="258" y="631"/>
                    </a:cubicBezTo>
                    <a:cubicBezTo>
                      <a:pt x="253" y="636"/>
                      <a:pt x="246" y="640"/>
                      <a:pt x="239" y="642"/>
                    </a:cubicBezTo>
                    <a:cubicBezTo>
                      <a:pt x="237" y="649"/>
                      <a:pt x="233" y="656"/>
                      <a:pt x="228" y="661"/>
                    </a:cubicBezTo>
                    <a:cubicBezTo>
                      <a:pt x="219" y="670"/>
                      <a:pt x="208" y="675"/>
                      <a:pt x="196" y="675"/>
                    </a:cubicBezTo>
                    <a:cubicBezTo>
                      <a:pt x="194" y="678"/>
                      <a:pt x="192" y="681"/>
                      <a:pt x="189" y="684"/>
                    </a:cubicBezTo>
                    <a:cubicBezTo>
                      <a:pt x="173" y="699"/>
                      <a:pt x="149" y="702"/>
                      <a:pt x="130" y="691"/>
                    </a:cubicBezTo>
                    <a:cubicBezTo>
                      <a:pt x="110" y="708"/>
                      <a:pt x="82" y="706"/>
                      <a:pt x="63" y="688"/>
                    </a:cubicBezTo>
                    <a:lnTo>
                      <a:pt x="20" y="644"/>
                    </a:lnTo>
                    <a:close/>
                    <a:moveTo>
                      <a:pt x="619" y="89"/>
                    </a:moveTo>
                    <a:cubicBezTo>
                      <a:pt x="618" y="88"/>
                      <a:pt x="617" y="87"/>
                      <a:pt x="616" y="86"/>
                    </a:cubicBezTo>
                    <a:cubicBezTo>
                      <a:pt x="615" y="85"/>
                      <a:pt x="614" y="84"/>
                      <a:pt x="613" y="83"/>
                    </a:cubicBezTo>
                    <a:cubicBezTo>
                      <a:pt x="611" y="81"/>
                      <a:pt x="609" y="79"/>
                      <a:pt x="607" y="78"/>
                    </a:cubicBezTo>
                    <a:cubicBezTo>
                      <a:pt x="561" y="37"/>
                      <a:pt x="502" y="16"/>
                      <a:pt x="441" y="18"/>
                    </a:cubicBezTo>
                    <a:cubicBezTo>
                      <a:pt x="379" y="20"/>
                      <a:pt x="321" y="45"/>
                      <a:pt x="278" y="89"/>
                    </a:cubicBezTo>
                    <a:cubicBezTo>
                      <a:pt x="259" y="108"/>
                      <a:pt x="244" y="128"/>
                      <a:pt x="232" y="150"/>
                    </a:cubicBezTo>
                    <a:cubicBezTo>
                      <a:pt x="212" y="189"/>
                      <a:pt x="204" y="231"/>
                      <a:pt x="193" y="283"/>
                    </a:cubicBezTo>
                    <a:cubicBezTo>
                      <a:pt x="193" y="285"/>
                      <a:pt x="193" y="285"/>
                      <a:pt x="193" y="285"/>
                    </a:cubicBezTo>
                    <a:cubicBezTo>
                      <a:pt x="189" y="303"/>
                      <a:pt x="177" y="318"/>
                      <a:pt x="166" y="333"/>
                    </a:cubicBezTo>
                    <a:cubicBezTo>
                      <a:pt x="159" y="342"/>
                      <a:pt x="153" y="350"/>
                      <a:pt x="147" y="359"/>
                    </a:cubicBezTo>
                    <a:cubicBezTo>
                      <a:pt x="133" y="384"/>
                      <a:pt x="126" y="413"/>
                      <a:pt x="129" y="441"/>
                    </a:cubicBezTo>
                    <a:cubicBezTo>
                      <a:pt x="130" y="445"/>
                      <a:pt x="131" y="449"/>
                      <a:pt x="131" y="453"/>
                    </a:cubicBezTo>
                    <a:cubicBezTo>
                      <a:pt x="133" y="459"/>
                      <a:pt x="133" y="459"/>
                      <a:pt x="133" y="459"/>
                    </a:cubicBezTo>
                    <a:cubicBezTo>
                      <a:pt x="127" y="456"/>
                      <a:pt x="127" y="456"/>
                      <a:pt x="127" y="456"/>
                    </a:cubicBezTo>
                    <a:cubicBezTo>
                      <a:pt x="115" y="449"/>
                      <a:pt x="99" y="451"/>
                      <a:pt x="89" y="461"/>
                    </a:cubicBezTo>
                    <a:cubicBezTo>
                      <a:pt x="84" y="467"/>
                      <a:pt x="81" y="473"/>
                      <a:pt x="80" y="480"/>
                    </a:cubicBezTo>
                    <a:cubicBezTo>
                      <a:pt x="80" y="483"/>
                      <a:pt x="80" y="483"/>
                      <a:pt x="80" y="483"/>
                    </a:cubicBezTo>
                    <a:cubicBezTo>
                      <a:pt x="77" y="483"/>
                      <a:pt x="77" y="483"/>
                      <a:pt x="77" y="483"/>
                    </a:cubicBezTo>
                    <a:cubicBezTo>
                      <a:pt x="70" y="484"/>
                      <a:pt x="63" y="487"/>
                      <a:pt x="58" y="492"/>
                    </a:cubicBezTo>
                    <a:cubicBezTo>
                      <a:pt x="51" y="499"/>
                      <a:pt x="48" y="510"/>
                      <a:pt x="49" y="520"/>
                    </a:cubicBezTo>
                    <a:cubicBezTo>
                      <a:pt x="50" y="522"/>
                      <a:pt x="50" y="522"/>
                      <a:pt x="50" y="522"/>
                    </a:cubicBezTo>
                    <a:cubicBezTo>
                      <a:pt x="48" y="523"/>
                      <a:pt x="48" y="523"/>
                      <a:pt x="48" y="523"/>
                    </a:cubicBezTo>
                    <a:cubicBezTo>
                      <a:pt x="43" y="525"/>
                      <a:pt x="39" y="527"/>
                      <a:pt x="36" y="531"/>
                    </a:cubicBezTo>
                    <a:cubicBezTo>
                      <a:pt x="23" y="543"/>
                      <a:pt x="23" y="564"/>
                      <a:pt x="36" y="576"/>
                    </a:cubicBezTo>
                    <a:cubicBezTo>
                      <a:pt x="40" y="580"/>
                      <a:pt x="40" y="580"/>
                      <a:pt x="40" y="580"/>
                    </a:cubicBezTo>
                    <a:cubicBezTo>
                      <a:pt x="37" y="582"/>
                      <a:pt x="37" y="582"/>
                      <a:pt x="37" y="582"/>
                    </a:cubicBezTo>
                    <a:cubicBezTo>
                      <a:pt x="35" y="583"/>
                      <a:pt x="33" y="585"/>
                      <a:pt x="31" y="587"/>
                    </a:cubicBezTo>
                    <a:cubicBezTo>
                      <a:pt x="19" y="599"/>
                      <a:pt x="19" y="620"/>
                      <a:pt x="31" y="633"/>
                    </a:cubicBezTo>
                    <a:cubicBezTo>
                      <a:pt x="75" y="676"/>
                      <a:pt x="75" y="676"/>
                      <a:pt x="75" y="676"/>
                    </a:cubicBezTo>
                    <a:cubicBezTo>
                      <a:pt x="88" y="689"/>
                      <a:pt x="108" y="689"/>
                      <a:pt x="121" y="677"/>
                    </a:cubicBezTo>
                    <a:cubicBezTo>
                      <a:pt x="123" y="675"/>
                      <a:pt x="124" y="673"/>
                      <a:pt x="126" y="671"/>
                    </a:cubicBezTo>
                    <a:cubicBezTo>
                      <a:pt x="127" y="668"/>
                      <a:pt x="127" y="668"/>
                      <a:pt x="127" y="668"/>
                    </a:cubicBezTo>
                    <a:cubicBezTo>
                      <a:pt x="131" y="672"/>
                      <a:pt x="131" y="672"/>
                      <a:pt x="131" y="672"/>
                    </a:cubicBezTo>
                    <a:cubicBezTo>
                      <a:pt x="144" y="684"/>
                      <a:pt x="165" y="685"/>
                      <a:pt x="177" y="672"/>
                    </a:cubicBezTo>
                    <a:cubicBezTo>
                      <a:pt x="181" y="669"/>
                      <a:pt x="183" y="665"/>
                      <a:pt x="185" y="660"/>
                    </a:cubicBezTo>
                    <a:cubicBezTo>
                      <a:pt x="186" y="658"/>
                      <a:pt x="186" y="658"/>
                      <a:pt x="186" y="658"/>
                    </a:cubicBezTo>
                    <a:cubicBezTo>
                      <a:pt x="188" y="658"/>
                      <a:pt x="188" y="658"/>
                      <a:pt x="188" y="658"/>
                    </a:cubicBezTo>
                    <a:cubicBezTo>
                      <a:pt x="198" y="660"/>
                      <a:pt x="209" y="657"/>
                      <a:pt x="216" y="649"/>
                    </a:cubicBezTo>
                    <a:cubicBezTo>
                      <a:pt x="221" y="644"/>
                      <a:pt x="224" y="638"/>
                      <a:pt x="225" y="630"/>
                    </a:cubicBezTo>
                    <a:cubicBezTo>
                      <a:pt x="225" y="628"/>
                      <a:pt x="225" y="628"/>
                      <a:pt x="225" y="628"/>
                    </a:cubicBezTo>
                    <a:cubicBezTo>
                      <a:pt x="227" y="628"/>
                      <a:pt x="227" y="628"/>
                      <a:pt x="227" y="628"/>
                    </a:cubicBezTo>
                    <a:cubicBezTo>
                      <a:pt x="235" y="627"/>
                      <a:pt x="241" y="624"/>
                      <a:pt x="246" y="619"/>
                    </a:cubicBezTo>
                    <a:cubicBezTo>
                      <a:pt x="256" y="609"/>
                      <a:pt x="259" y="593"/>
                      <a:pt x="252" y="580"/>
                    </a:cubicBezTo>
                    <a:cubicBezTo>
                      <a:pt x="249" y="575"/>
                      <a:pt x="249" y="575"/>
                      <a:pt x="249" y="575"/>
                    </a:cubicBezTo>
                    <a:cubicBezTo>
                      <a:pt x="255" y="576"/>
                      <a:pt x="255" y="576"/>
                      <a:pt x="255" y="576"/>
                    </a:cubicBezTo>
                    <a:cubicBezTo>
                      <a:pt x="259" y="577"/>
                      <a:pt x="263" y="578"/>
                      <a:pt x="266" y="578"/>
                    </a:cubicBezTo>
                    <a:cubicBezTo>
                      <a:pt x="295" y="581"/>
                      <a:pt x="324" y="575"/>
                      <a:pt x="348" y="560"/>
                    </a:cubicBezTo>
                    <a:cubicBezTo>
                      <a:pt x="357" y="555"/>
                      <a:pt x="366" y="549"/>
                      <a:pt x="374" y="542"/>
                    </a:cubicBezTo>
                    <a:cubicBezTo>
                      <a:pt x="389" y="530"/>
                      <a:pt x="405" y="518"/>
                      <a:pt x="423" y="515"/>
                    </a:cubicBezTo>
                    <a:cubicBezTo>
                      <a:pt x="425" y="514"/>
                      <a:pt x="425" y="514"/>
                      <a:pt x="425" y="514"/>
                    </a:cubicBezTo>
                    <a:cubicBezTo>
                      <a:pt x="477" y="504"/>
                      <a:pt x="519" y="496"/>
                      <a:pt x="558" y="475"/>
                    </a:cubicBezTo>
                    <a:cubicBezTo>
                      <a:pt x="580" y="464"/>
                      <a:pt x="600" y="449"/>
                      <a:pt x="619" y="430"/>
                    </a:cubicBezTo>
                    <a:cubicBezTo>
                      <a:pt x="713" y="336"/>
                      <a:pt x="713" y="183"/>
                      <a:pt x="619" y="89"/>
                    </a:cubicBez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6"/>
              <p:cNvSpPr/>
              <p:nvPr/>
            </p:nvSpPr>
            <p:spPr>
              <a:xfrm>
                <a:off x="4959354" y="3660771"/>
                <a:ext cx="1554163" cy="1103313"/>
              </a:xfrm>
              <a:custGeom>
                <a:avLst/>
                <a:gdLst/>
                <a:ahLst/>
                <a:cxnLst>
                  <a:cxn ang="0">
                    <a:pos x="1554163" y="649257"/>
                  </a:cxn>
                  <a:cxn ang="0">
                    <a:pos x="1532931" y="661987"/>
                  </a:cxn>
                  <a:cxn ang="0">
                    <a:pos x="989398" y="818997"/>
                  </a:cxn>
                  <a:cxn ang="0">
                    <a:pos x="980906" y="818997"/>
                  </a:cxn>
                  <a:cxn ang="0">
                    <a:pos x="743110" y="950546"/>
                  </a:cxn>
                  <a:cxn ang="0">
                    <a:pos x="641198" y="1022686"/>
                  </a:cxn>
                  <a:cxn ang="0">
                    <a:pos x="335461" y="1090582"/>
                  </a:cxn>
                  <a:cxn ang="0">
                    <a:pos x="46709" y="950546"/>
                  </a:cxn>
                  <a:cxn ang="0">
                    <a:pos x="0" y="903867"/>
                  </a:cxn>
                  <a:cxn ang="0">
                    <a:pos x="352446" y="551656"/>
                  </a:cxn>
                  <a:cxn ang="0">
                    <a:pos x="416142" y="403133"/>
                  </a:cxn>
                  <a:cxn ang="0">
                    <a:pos x="292997" y="377672"/>
                  </a:cxn>
                  <a:cxn ang="0">
                    <a:pos x="339707" y="203688"/>
                  </a:cxn>
                  <a:cxn ang="0">
                    <a:pos x="496822" y="161253"/>
                  </a:cxn>
                  <a:cxn ang="0">
                    <a:pos x="543532" y="297045"/>
                  </a:cxn>
                  <a:cxn ang="0">
                    <a:pos x="649691" y="258854"/>
                  </a:cxn>
                  <a:cxn ang="0">
                    <a:pos x="904471" y="0"/>
                  </a:cxn>
                  <a:cxn ang="0">
                    <a:pos x="1082818" y="178227"/>
                  </a:cxn>
                  <a:cxn ang="0">
                    <a:pos x="1099803" y="267341"/>
                  </a:cxn>
                  <a:cxn ang="0">
                    <a:pos x="963920" y="305532"/>
                  </a:cxn>
                  <a:cxn ang="0">
                    <a:pos x="1010630" y="466786"/>
                  </a:cxn>
                  <a:cxn ang="0">
                    <a:pos x="1159252" y="509221"/>
                  </a:cxn>
                  <a:cxn ang="0">
                    <a:pos x="1188977" y="403133"/>
                  </a:cxn>
                  <a:cxn ang="0">
                    <a:pos x="1329106" y="424351"/>
                  </a:cxn>
                  <a:cxn ang="0">
                    <a:pos x="1554163" y="649257"/>
                  </a:cxn>
                </a:cxnLst>
                <a:rect l="0" t="0" r="0" b="0"/>
                <a:pathLst>
                  <a:path w="366" h="260">
                    <a:moveTo>
                      <a:pt x="366" y="153"/>
                    </a:moveTo>
                    <a:cubicBezTo>
                      <a:pt x="364" y="154"/>
                      <a:pt x="363" y="155"/>
                      <a:pt x="361" y="156"/>
                    </a:cubicBezTo>
                    <a:cubicBezTo>
                      <a:pt x="324" y="175"/>
                      <a:pt x="284" y="183"/>
                      <a:pt x="233" y="193"/>
                    </a:cubicBezTo>
                    <a:cubicBezTo>
                      <a:pt x="231" y="193"/>
                      <a:pt x="231" y="193"/>
                      <a:pt x="231" y="193"/>
                    </a:cubicBezTo>
                    <a:cubicBezTo>
                      <a:pt x="209" y="198"/>
                      <a:pt x="191" y="212"/>
                      <a:pt x="175" y="224"/>
                    </a:cubicBezTo>
                    <a:cubicBezTo>
                      <a:pt x="167" y="230"/>
                      <a:pt x="159" y="237"/>
                      <a:pt x="151" y="241"/>
                    </a:cubicBezTo>
                    <a:cubicBezTo>
                      <a:pt x="130" y="254"/>
                      <a:pt x="104" y="260"/>
                      <a:pt x="79" y="257"/>
                    </a:cubicBezTo>
                    <a:cubicBezTo>
                      <a:pt x="54" y="254"/>
                      <a:pt x="30" y="242"/>
                      <a:pt x="11" y="224"/>
                    </a:cubicBezTo>
                    <a:cubicBezTo>
                      <a:pt x="0" y="213"/>
                      <a:pt x="0" y="213"/>
                      <a:pt x="0" y="213"/>
                    </a:cubicBezTo>
                    <a:cubicBezTo>
                      <a:pt x="83" y="130"/>
                      <a:pt x="83" y="130"/>
                      <a:pt x="83" y="130"/>
                    </a:cubicBezTo>
                    <a:cubicBezTo>
                      <a:pt x="100" y="114"/>
                      <a:pt x="105" y="102"/>
                      <a:pt x="98" y="95"/>
                    </a:cubicBezTo>
                    <a:cubicBezTo>
                      <a:pt x="92" y="89"/>
                      <a:pt x="77" y="98"/>
                      <a:pt x="69" y="89"/>
                    </a:cubicBezTo>
                    <a:cubicBezTo>
                      <a:pt x="64" y="84"/>
                      <a:pt x="63" y="65"/>
                      <a:pt x="80" y="48"/>
                    </a:cubicBezTo>
                    <a:cubicBezTo>
                      <a:pt x="97" y="31"/>
                      <a:pt x="112" y="32"/>
                      <a:pt x="117" y="38"/>
                    </a:cubicBezTo>
                    <a:cubicBezTo>
                      <a:pt x="125" y="46"/>
                      <a:pt x="118" y="60"/>
                      <a:pt x="128" y="70"/>
                    </a:cubicBezTo>
                    <a:cubicBezTo>
                      <a:pt x="135" y="77"/>
                      <a:pt x="146" y="68"/>
                      <a:pt x="153" y="61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255" y="42"/>
                      <a:pt x="255" y="42"/>
                      <a:pt x="255" y="42"/>
                    </a:cubicBezTo>
                    <a:cubicBezTo>
                      <a:pt x="263" y="50"/>
                      <a:pt x="263" y="59"/>
                      <a:pt x="259" y="63"/>
                    </a:cubicBezTo>
                    <a:cubicBezTo>
                      <a:pt x="249" y="73"/>
                      <a:pt x="236" y="64"/>
                      <a:pt x="227" y="72"/>
                    </a:cubicBezTo>
                    <a:cubicBezTo>
                      <a:pt x="219" y="81"/>
                      <a:pt x="224" y="97"/>
                      <a:pt x="238" y="110"/>
                    </a:cubicBezTo>
                    <a:cubicBezTo>
                      <a:pt x="251" y="123"/>
                      <a:pt x="266" y="127"/>
                      <a:pt x="273" y="120"/>
                    </a:cubicBezTo>
                    <a:cubicBezTo>
                      <a:pt x="281" y="113"/>
                      <a:pt x="274" y="101"/>
                      <a:pt x="280" y="95"/>
                    </a:cubicBezTo>
                    <a:cubicBezTo>
                      <a:pt x="286" y="89"/>
                      <a:pt x="297" y="84"/>
                      <a:pt x="313" y="100"/>
                    </a:cubicBezTo>
                    <a:lnTo>
                      <a:pt x="366" y="153"/>
                    </a:ln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7"/>
              <p:cNvSpPr/>
              <p:nvPr/>
            </p:nvSpPr>
            <p:spPr>
              <a:xfrm>
                <a:off x="5218111" y="2505073"/>
                <a:ext cx="1517646" cy="1155699"/>
              </a:xfrm>
              <a:custGeom>
                <a:avLst/>
                <a:gdLst/>
                <a:ahLst/>
                <a:cxnLst>
                  <a:cxn ang="0">
                    <a:pos x="1207318" y="943255"/>
                  </a:cxn>
                  <a:cxn ang="0">
                    <a:pos x="1020268" y="989993"/>
                  </a:cxn>
                  <a:cxn ang="0">
                    <a:pos x="986259" y="871023"/>
                  </a:cxn>
                  <a:cxn ang="0">
                    <a:pos x="888484" y="913512"/>
                  </a:cxn>
                  <a:cxn ang="0">
                    <a:pos x="646170" y="1155700"/>
                  </a:cxn>
                  <a:cxn ang="0">
                    <a:pos x="471874" y="981495"/>
                  </a:cxn>
                  <a:cxn ang="0">
                    <a:pos x="429363" y="883770"/>
                  </a:cxn>
                  <a:cxn ang="0">
                    <a:pos x="565399" y="824286"/>
                  </a:cxn>
                  <a:cxn ang="0">
                    <a:pos x="488878" y="654330"/>
                  </a:cxn>
                  <a:cxn ang="0">
                    <a:pos x="323085" y="624587"/>
                  </a:cxn>
                  <a:cxn ang="0">
                    <a:pos x="284825" y="743556"/>
                  </a:cxn>
                  <a:cxn ang="0">
                    <a:pos x="157291" y="667076"/>
                  </a:cxn>
                  <a:cxn ang="0">
                    <a:pos x="0" y="509867"/>
                  </a:cxn>
                  <a:cxn ang="0">
                    <a:pos x="170044" y="288925"/>
                  </a:cxn>
                  <a:cxn ang="0">
                    <a:pos x="811964" y="8497"/>
                  </a:cxn>
                  <a:cxn ang="0">
                    <a:pos x="1470887" y="242187"/>
                  </a:cxn>
                  <a:cxn ang="0">
                    <a:pos x="1496394" y="263431"/>
                  </a:cxn>
                  <a:cxn ang="0">
                    <a:pos x="1504896" y="276178"/>
                  </a:cxn>
                  <a:cxn ang="0">
                    <a:pos x="1517650" y="288925"/>
                  </a:cxn>
                  <a:cxn ang="0">
                    <a:pos x="1152053" y="654330"/>
                  </a:cxn>
                  <a:cxn ang="0">
                    <a:pos x="1113793" y="735059"/>
                  </a:cxn>
                  <a:cxn ang="0">
                    <a:pos x="1224322" y="756303"/>
                  </a:cxn>
                  <a:cxn ang="0">
                    <a:pos x="1207318" y="943255"/>
                  </a:cxn>
                </a:cxnLst>
                <a:rect l="0" t="0" r="0" b="0"/>
                <a:pathLst>
                  <a:path w="357" h="272">
                    <a:moveTo>
                      <a:pt x="284" y="222"/>
                    </a:moveTo>
                    <a:cubicBezTo>
                      <a:pt x="257" y="248"/>
                      <a:pt x="244" y="236"/>
                      <a:pt x="240" y="233"/>
                    </a:cubicBezTo>
                    <a:cubicBezTo>
                      <a:pt x="233" y="226"/>
                      <a:pt x="238" y="211"/>
                      <a:pt x="232" y="205"/>
                    </a:cubicBezTo>
                    <a:cubicBezTo>
                      <a:pt x="227" y="201"/>
                      <a:pt x="222" y="203"/>
                      <a:pt x="209" y="215"/>
                    </a:cubicBezTo>
                    <a:cubicBezTo>
                      <a:pt x="152" y="272"/>
                      <a:pt x="152" y="272"/>
                      <a:pt x="152" y="272"/>
                    </a:cubicBezTo>
                    <a:cubicBezTo>
                      <a:pt x="111" y="231"/>
                      <a:pt x="111" y="231"/>
                      <a:pt x="111" y="231"/>
                    </a:cubicBezTo>
                    <a:cubicBezTo>
                      <a:pt x="104" y="224"/>
                      <a:pt x="96" y="213"/>
                      <a:pt x="101" y="208"/>
                    </a:cubicBezTo>
                    <a:cubicBezTo>
                      <a:pt x="110" y="199"/>
                      <a:pt x="123" y="204"/>
                      <a:pt x="133" y="194"/>
                    </a:cubicBezTo>
                    <a:cubicBezTo>
                      <a:pt x="142" y="185"/>
                      <a:pt x="132" y="166"/>
                      <a:pt x="115" y="154"/>
                    </a:cubicBezTo>
                    <a:cubicBezTo>
                      <a:pt x="94" y="139"/>
                      <a:pt x="82" y="141"/>
                      <a:pt x="76" y="147"/>
                    </a:cubicBezTo>
                    <a:cubicBezTo>
                      <a:pt x="70" y="153"/>
                      <a:pt x="74" y="167"/>
                      <a:pt x="67" y="175"/>
                    </a:cubicBezTo>
                    <a:cubicBezTo>
                      <a:pt x="61" y="180"/>
                      <a:pt x="42" y="162"/>
                      <a:pt x="37" y="157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10" y="101"/>
                      <a:pt x="23" y="84"/>
                      <a:pt x="40" y="68"/>
                    </a:cubicBezTo>
                    <a:cubicBezTo>
                      <a:pt x="80" y="27"/>
                      <a:pt x="134" y="4"/>
                      <a:pt x="191" y="2"/>
                    </a:cubicBezTo>
                    <a:cubicBezTo>
                      <a:pt x="248" y="0"/>
                      <a:pt x="303" y="20"/>
                      <a:pt x="346" y="57"/>
                    </a:cubicBezTo>
                    <a:cubicBezTo>
                      <a:pt x="348" y="59"/>
                      <a:pt x="350" y="60"/>
                      <a:pt x="352" y="62"/>
                    </a:cubicBezTo>
                    <a:cubicBezTo>
                      <a:pt x="353" y="63"/>
                      <a:pt x="354" y="64"/>
                      <a:pt x="354" y="65"/>
                    </a:cubicBezTo>
                    <a:cubicBezTo>
                      <a:pt x="355" y="66"/>
                      <a:pt x="356" y="67"/>
                      <a:pt x="357" y="68"/>
                    </a:cubicBezTo>
                    <a:cubicBezTo>
                      <a:pt x="271" y="154"/>
                      <a:pt x="271" y="154"/>
                      <a:pt x="271" y="154"/>
                    </a:cubicBezTo>
                    <a:cubicBezTo>
                      <a:pt x="263" y="162"/>
                      <a:pt x="257" y="168"/>
                      <a:pt x="262" y="173"/>
                    </a:cubicBezTo>
                    <a:cubicBezTo>
                      <a:pt x="270" y="180"/>
                      <a:pt x="281" y="171"/>
                      <a:pt x="288" y="178"/>
                    </a:cubicBezTo>
                    <a:cubicBezTo>
                      <a:pt x="296" y="187"/>
                      <a:pt x="303" y="202"/>
                      <a:pt x="284" y="222"/>
                    </a:cubicBezTo>
                    <a:close/>
                  </a:path>
                </a:pathLst>
              </a:custGeom>
              <a:solidFill>
                <a:srgbClr val="3976BD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8"/>
              <p:cNvSpPr/>
              <p:nvPr/>
            </p:nvSpPr>
            <p:spPr>
              <a:xfrm>
                <a:off x="4556125" y="4348163"/>
                <a:ext cx="623888" cy="620713"/>
              </a:xfrm>
              <a:custGeom>
                <a:avLst/>
                <a:gdLst/>
                <a:ahLst/>
                <a:cxnLst>
                  <a:cxn ang="0">
                    <a:pos x="29708" y="123292"/>
                  </a:cxn>
                  <a:cxn ang="0">
                    <a:pos x="29708" y="25508"/>
                  </a:cxn>
                  <a:cxn ang="0">
                    <a:pos x="123079" y="25508"/>
                  </a:cxn>
                  <a:cxn ang="0">
                    <a:pos x="594179" y="501672"/>
                  </a:cxn>
                  <a:cxn ang="0">
                    <a:pos x="598423" y="595204"/>
                  </a:cxn>
                  <a:cxn ang="0">
                    <a:pos x="500808" y="595204"/>
                  </a:cxn>
                  <a:cxn ang="0">
                    <a:pos x="29708" y="123292"/>
                  </a:cxn>
                </a:cxnLst>
                <a:rect l="0" t="0" r="0" b="0"/>
                <a:pathLst>
                  <a:path w="147" h="146">
                    <a:moveTo>
                      <a:pt x="7" y="29"/>
                    </a:moveTo>
                    <a:cubicBezTo>
                      <a:pt x="1" y="22"/>
                      <a:pt x="0" y="12"/>
                      <a:pt x="7" y="6"/>
                    </a:cubicBezTo>
                    <a:cubicBezTo>
                      <a:pt x="13" y="0"/>
                      <a:pt x="23" y="0"/>
                      <a:pt x="29" y="6"/>
                    </a:cubicBezTo>
                    <a:cubicBezTo>
                      <a:pt x="140" y="118"/>
                      <a:pt x="140" y="118"/>
                      <a:pt x="140" y="118"/>
                    </a:cubicBezTo>
                    <a:cubicBezTo>
                      <a:pt x="147" y="124"/>
                      <a:pt x="147" y="134"/>
                      <a:pt x="141" y="140"/>
                    </a:cubicBezTo>
                    <a:cubicBezTo>
                      <a:pt x="135" y="146"/>
                      <a:pt x="124" y="146"/>
                      <a:pt x="118" y="140"/>
                    </a:cubicBez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9"/>
              <p:cNvSpPr/>
              <p:nvPr/>
            </p:nvSpPr>
            <p:spPr>
              <a:xfrm>
                <a:off x="4429125" y="4479925"/>
                <a:ext cx="619125" cy="620713"/>
              </a:xfrm>
              <a:custGeom>
                <a:avLst/>
                <a:gdLst/>
                <a:ahLst/>
                <a:cxnLst>
                  <a:cxn ang="0">
                    <a:pos x="25443" y="119040"/>
                  </a:cxn>
                  <a:cxn ang="0">
                    <a:pos x="25443" y="25508"/>
                  </a:cxn>
                  <a:cxn ang="0">
                    <a:pos x="118736" y="25508"/>
                  </a:cxn>
                  <a:cxn ang="0">
                    <a:pos x="593681" y="497420"/>
                  </a:cxn>
                  <a:cxn ang="0">
                    <a:pos x="593681" y="595204"/>
                  </a:cxn>
                  <a:cxn ang="0">
                    <a:pos x="500388" y="590952"/>
                  </a:cxn>
                  <a:cxn ang="0">
                    <a:pos x="25443" y="119040"/>
                  </a:cxn>
                </a:cxnLst>
                <a:rect l="0" t="0" r="0" b="0"/>
                <a:pathLst>
                  <a:path w="146" h="146">
                    <a:moveTo>
                      <a:pt x="6" y="28"/>
                    </a:moveTo>
                    <a:cubicBezTo>
                      <a:pt x="0" y="22"/>
                      <a:pt x="0" y="12"/>
                      <a:pt x="6" y="6"/>
                    </a:cubicBezTo>
                    <a:cubicBezTo>
                      <a:pt x="12" y="0"/>
                      <a:pt x="22" y="0"/>
                      <a:pt x="28" y="6"/>
                    </a:cubicBezTo>
                    <a:cubicBezTo>
                      <a:pt x="140" y="117"/>
                      <a:pt x="140" y="117"/>
                      <a:pt x="140" y="117"/>
                    </a:cubicBezTo>
                    <a:cubicBezTo>
                      <a:pt x="146" y="124"/>
                      <a:pt x="146" y="134"/>
                      <a:pt x="140" y="140"/>
                    </a:cubicBezTo>
                    <a:cubicBezTo>
                      <a:pt x="134" y="146"/>
                      <a:pt x="124" y="146"/>
                      <a:pt x="118" y="139"/>
                    </a:cubicBezTo>
                    <a:lnTo>
                      <a:pt x="6" y="28"/>
                    </a:ln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0"/>
              <p:cNvSpPr/>
              <p:nvPr/>
            </p:nvSpPr>
            <p:spPr>
              <a:xfrm>
                <a:off x="4330700" y="4641850"/>
                <a:ext cx="557213" cy="552450"/>
              </a:xfrm>
              <a:custGeom>
                <a:avLst/>
                <a:gdLst/>
                <a:ahLst/>
                <a:cxnLst>
                  <a:cxn ang="0">
                    <a:pos x="29774" y="123238"/>
                  </a:cxn>
                  <a:cxn ang="0">
                    <a:pos x="29774" y="25497"/>
                  </a:cxn>
                  <a:cxn ang="0">
                    <a:pos x="123352" y="29747"/>
                  </a:cxn>
                  <a:cxn ang="0">
                    <a:pos x="527438" y="433460"/>
                  </a:cxn>
                  <a:cxn ang="0">
                    <a:pos x="531691" y="526952"/>
                  </a:cxn>
                  <a:cxn ang="0">
                    <a:pos x="433860" y="526952"/>
                  </a:cxn>
                  <a:cxn ang="0">
                    <a:pos x="29774" y="123238"/>
                  </a:cxn>
                </a:cxnLst>
                <a:rect l="0" t="0" r="0" b="0"/>
                <a:pathLst>
                  <a:path w="131" h="130">
                    <a:moveTo>
                      <a:pt x="7" y="29"/>
                    </a:moveTo>
                    <a:cubicBezTo>
                      <a:pt x="1" y="22"/>
                      <a:pt x="0" y="12"/>
                      <a:pt x="7" y="6"/>
                    </a:cubicBezTo>
                    <a:cubicBezTo>
                      <a:pt x="13" y="0"/>
                      <a:pt x="23" y="0"/>
                      <a:pt x="29" y="7"/>
                    </a:cubicBezTo>
                    <a:cubicBezTo>
                      <a:pt x="124" y="102"/>
                      <a:pt x="124" y="102"/>
                      <a:pt x="124" y="102"/>
                    </a:cubicBezTo>
                    <a:cubicBezTo>
                      <a:pt x="130" y="108"/>
                      <a:pt x="131" y="118"/>
                      <a:pt x="125" y="124"/>
                    </a:cubicBezTo>
                    <a:cubicBezTo>
                      <a:pt x="118" y="130"/>
                      <a:pt x="108" y="130"/>
                      <a:pt x="102" y="124"/>
                    </a:cubicBez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1"/>
              <p:cNvSpPr/>
              <p:nvPr/>
            </p:nvSpPr>
            <p:spPr>
              <a:xfrm>
                <a:off x="4314825" y="4879975"/>
                <a:ext cx="330200" cy="334963"/>
              </a:xfrm>
              <a:custGeom>
                <a:avLst/>
                <a:gdLst/>
                <a:ahLst/>
                <a:cxnLst>
                  <a:cxn ang="0">
                    <a:pos x="25400" y="122961"/>
                  </a:cxn>
                  <a:cxn ang="0">
                    <a:pos x="25400" y="29680"/>
                  </a:cxn>
                  <a:cxn ang="0">
                    <a:pos x="118533" y="29680"/>
                  </a:cxn>
                  <a:cxn ang="0">
                    <a:pos x="304800" y="216241"/>
                  </a:cxn>
                  <a:cxn ang="0">
                    <a:pos x="304800" y="309522"/>
                  </a:cxn>
                  <a:cxn ang="0">
                    <a:pos x="211666" y="309522"/>
                  </a:cxn>
                  <a:cxn ang="0">
                    <a:pos x="25400" y="122961"/>
                  </a:cxn>
                </a:cxnLst>
                <a:rect l="0" t="0" r="0" b="0"/>
                <a:pathLst>
                  <a:path w="78" h="79">
                    <a:moveTo>
                      <a:pt x="6" y="29"/>
                    </a:moveTo>
                    <a:cubicBezTo>
                      <a:pt x="0" y="23"/>
                      <a:pt x="0" y="13"/>
                      <a:pt x="6" y="7"/>
                    </a:cubicBezTo>
                    <a:cubicBezTo>
                      <a:pt x="12" y="0"/>
                      <a:pt x="22" y="1"/>
                      <a:pt x="28" y="7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8" y="57"/>
                      <a:pt x="78" y="67"/>
                      <a:pt x="72" y="73"/>
                    </a:cubicBezTo>
                    <a:cubicBezTo>
                      <a:pt x="66" y="79"/>
                      <a:pt x="56" y="79"/>
                      <a:pt x="50" y="73"/>
                    </a:cubicBezTo>
                    <a:lnTo>
                      <a:pt x="6" y="29"/>
                    </a:ln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>
                <a:spLocks noEditPoints="1"/>
              </p:cNvSpPr>
              <p:nvPr/>
            </p:nvSpPr>
            <p:spPr>
              <a:xfrm>
                <a:off x="4157663" y="1490663"/>
                <a:ext cx="3880536" cy="3880367"/>
              </a:xfrm>
              <a:custGeom>
                <a:avLst/>
                <a:gdLst/>
                <a:ahLst/>
                <a:cxnLst>
                  <a:cxn ang="0">
                    <a:pos x="1813319" y="3864451"/>
                  </a:cxn>
                  <a:cxn ang="0">
                    <a:pos x="1800579" y="3834724"/>
                  </a:cxn>
                  <a:cxn ang="0">
                    <a:pos x="1800579" y="3711572"/>
                  </a:cxn>
                  <a:cxn ang="0">
                    <a:pos x="1847292" y="3664858"/>
                  </a:cxn>
                  <a:cxn ang="0">
                    <a:pos x="1881265" y="3677598"/>
                  </a:cxn>
                  <a:cxn ang="0">
                    <a:pos x="1894005" y="3711572"/>
                  </a:cxn>
                  <a:cxn ang="0">
                    <a:pos x="1894005" y="3834724"/>
                  </a:cxn>
                  <a:cxn ang="0">
                    <a:pos x="1847292" y="3881438"/>
                  </a:cxn>
                  <a:cxn ang="0">
                    <a:pos x="1813319" y="3864451"/>
                  </a:cxn>
                  <a:cxn ang="0">
                    <a:pos x="12739" y="2068118"/>
                  </a:cxn>
                  <a:cxn ang="0">
                    <a:pos x="0" y="2034145"/>
                  </a:cxn>
                  <a:cxn ang="0">
                    <a:pos x="46713" y="1987432"/>
                  </a:cxn>
                  <a:cxn ang="0">
                    <a:pos x="169865" y="1987432"/>
                  </a:cxn>
                  <a:cxn ang="0">
                    <a:pos x="203839" y="2000172"/>
                  </a:cxn>
                  <a:cxn ang="0">
                    <a:pos x="216579" y="2034145"/>
                  </a:cxn>
                  <a:cxn ang="0">
                    <a:pos x="203839" y="2068118"/>
                  </a:cxn>
                  <a:cxn ang="0">
                    <a:pos x="169865" y="2080858"/>
                  </a:cxn>
                  <a:cxn ang="0">
                    <a:pos x="46713" y="2080858"/>
                  </a:cxn>
                  <a:cxn ang="0">
                    <a:pos x="12739" y="2068118"/>
                  </a:cxn>
                  <a:cxn ang="0">
                    <a:pos x="3002381" y="3252933"/>
                  </a:cxn>
                  <a:cxn ang="0">
                    <a:pos x="3002381" y="3184987"/>
                  </a:cxn>
                  <a:cxn ang="0">
                    <a:pos x="3066081" y="3184987"/>
                  </a:cxn>
                  <a:cxn ang="0">
                    <a:pos x="3218960" y="3337866"/>
                  </a:cxn>
                  <a:cxn ang="0">
                    <a:pos x="3218960" y="3405813"/>
                  </a:cxn>
                  <a:cxn ang="0">
                    <a:pos x="3151014" y="3405813"/>
                  </a:cxn>
                  <a:cxn ang="0">
                    <a:pos x="3002381" y="3252933"/>
                  </a:cxn>
                  <a:cxn ang="0">
                    <a:pos x="475624" y="726177"/>
                  </a:cxn>
                  <a:cxn ang="0">
                    <a:pos x="475624" y="662477"/>
                  </a:cxn>
                  <a:cxn ang="0">
                    <a:pos x="539324" y="662477"/>
                  </a:cxn>
                  <a:cxn ang="0">
                    <a:pos x="692203" y="815356"/>
                  </a:cxn>
                  <a:cxn ang="0">
                    <a:pos x="692203" y="879056"/>
                  </a:cxn>
                  <a:cxn ang="0">
                    <a:pos x="628504" y="879056"/>
                  </a:cxn>
                  <a:cxn ang="0">
                    <a:pos x="475624" y="726177"/>
                  </a:cxn>
                  <a:cxn ang="0">
                    <a:pos x="1813319" y="386445"/>
                  </a:cxn>
                  <a:cxn ang="0">
                    <a:pos x="1800579" y="356718"/>
                  </a:cxn>
                  <a:cxn ang="0">
                    <a:pos x="1800579" y="46713"/>
                  </a:cxn>
                  <a:cxn ang="0">
                    <a:pos x="1847292" y="0"/>
                  </a:cxn>
                  <a:cxn ang="0">
                    <a:pos x="1881265" y="12739"/>
                  </a:cxn>
                  <a:cxn ang="0">
                    <a:pos x="1894005" y="46713"/>
                  </a:cxn>
                  <a:cxn ang="0">
                    <a:pos x="1894005" y="356718"/>
                  </a:cxn>
                  <a:cxn ang="0">
                    <a:pos x="1881265" y="386445"/>
                  </a:cxn>
                  <a:cxn ang="0">
                    <a:pos x="1847292" y="403431"/>
                  </a:cxn>
                  <a:cxn ang="0">
                    <a:pos x="1813319" y="386445"/>
                  </a:cxn>
                  <a:cxn ang="0">
                    <a:pos x="3490746" y="2059625"/>
                  </a:cxn>
                  <a:cxn ang="0">
                    <a:pos x="3478006" y="2025651"/>
                  </a:cxn>
                  <a:cxn ang="0">
                    <a:pos x="3528966" y="1978938"/>
                  </a:cxn>
                  <a:cxn ang="0">
                    <a:pos x="3834724" y="1991678"/>
                  </a:cxn>
                  <a:cxn ang="0">
                    <a:pos x="3868698" y="2004418"/>
                  </a:cxn>
                  <a:cxn ang="0">
                    <a:pos x="3881438" y="2042638"/>
                  </a:cxn>
                  <a:cxn ang="0">
                    <a:pos x="3830478" y="2085105"/>
                  </a:cxn>
                  <a:cxn ang="0">
                    <a:pos x="3524719" y="2076611"/>
                  </a:cxn>
                  <a:cxn ang="0">
                    <a:pos x="3490746" y="2059625"/>
                  </a:cxn>
                  <a:cxn ang="0">
                    <a:pos x="3002381" y="879056"/>
                  </a:cxn>
                  <a:cxn ang="0">
                    <a:pos x="3002381" y="815356"/>
                  </a:cxn>
                  <a:cxn ang="0">
                    <a:pos x="3269920" y="543571"/>
                  </a:cxn>
                  <a:cxn ang="0">
                    <a:pos x="3337866" y="543571"/>
                  </a:cxn>
                  <a:cxn ang="0">
                    <a:pos x="3337866" y="607270"/>
                  </a:cxn>
                  <a:cxn ang="0">
                    <a:pos x="3066081" y="879056"/>
                  </a:cxn>
                  <a:cxn ang="0">
                    <a:pos x="3002381" y="879056"/>
                  </a:cxn>
                </a:cxnLst>
                <a:rect l="0" t="0" r="0" b="0"/>
                <a:pathLst>
                  <a:path w="914" h="914">
                    <a:moveTo>
                      <a:pt x="427" y="910"/>
                    </a:moveTo>
                    <a:cubicBezTo>
                      <a:pt x="425" y="908"/>
                      <a:pt x="424" y="906"/>
                      <a:pt x="424" y="903"/>
                    </a:cubicBezTo>
                    <a:cubicBezTo>
                      <a:pt x="424" y="874"/>
                      <a:pt x="424" y="874"/>
                      <a:pt x="424" y="874"/>
                    </a:cubicBezTo>
                    <a:cubicBezTo>
                      <a:pt x="424" y="868"/>
                      <a:pt x="429" y="863"/>
                      <a:pt x="435" y="863"/>
                    </a:cubicBezTo>
                    <a:cubicBezTo>
                      <a:pt x="438" y="863"/>
                      <a:pt x="441" y="864"/>
                      <a:pt x="443" y="866"/>
                    </a:cubicBezTo>
                    <a:cubicBezTo>
                      <a:pt x="445" y="868"/>
                      <a:pt x="446" y="871"/>
                      <a:pt x="446" y="874"/>
                    </a:cubicBezTo>
                    <a:cubicBezTo>
                      <a:pt x="446" y="903"/>
                      <a:pt x="446" y="903"/>
                      <a:pt x="446" y="903"/>
                    </a:cubicBezTo>
                    <a:cubicBezTo>
                      <a:pt x="446" y="909"/>
                      <a:pt x="441" y="914"/>
                      <a:pt x="435" y="914"/>
                    </a:cubicBezTo>
                    <a:cubicBezTo>
                      <a:pt x="432" y="914"/>
                      <a:pt x="429" y="913"/>
                      <a:pt x="427" y="910"/>
                    </a:cubicBezTo>
                    <a:close/>
                    <a:moveTo>
                      <a:pt x="3" y="487"/>
                    </a:moveTo>
                    <a:cubicBezTo>
                      <a:pt x="1" y="485"/>
                      <a:pt x="0" y="482"/>
                      <a:pt x="0" y="479"/>
                    </a:cubicBezTo>
                    <a:cubicBezTo>
                      <a:pt x="0" y="473"/>
                      <a:pt x="5" y="468"/>
                      <a:pt x="11" y="468"/>
                    </a:cubicBezTo>
                    <a:cubicBezTo>
                      <a:pt x="40" y="468"/>
                      <a:pt x="40" y="468"/>
                      <a:pt x="40" y="468"/>
                    </a:cubicBezTo>
                    <a:cubicBezTo>
                      <a:pt x="43" y="468"/>
                      <a:pt x="46" y="469"/>
                      <a:pt x="48" y="471"/>
                    </a:cubicBezTo>
                    <a:cubicBezTo>
                      <a:pt x="50" y="473"/>
                      <a:pt x="51" y="476"/>
                      <a:pt x="51" y="479"/>
                    </a:cubicBezTo>
                    <a:cubicBezTo>
                      <a:pt x="51" y="482"/>
                      <a:pt x="50" y="485"/>
                      <a:pt x="48" y="487"/>
                    </a:cubicBezTo>
                    <a:cubicBezTo>
                      <a:pt x="46" y="489"/>
                      <a:pt x="43" y="490"/>
                      <a:pt x="40" y="490"/>
                    </a:cubicBezTo>
                    <a:cubicBezTo>
                      <a:pt x="11" y="490"/>
                      <a:pt x="11" y="490"/>
                      <a:pt x="11" y="490"/>
                    </a:cubicBezTo>
                    <a:cubicBezTo>
                      <a:pt x="8" y="490"/>
                      <a:pt x="5" y="489"/>
                      <a:pt x="3" y="487"/>
                    </a:cubicBezTo>
                    <a:close/>
                    <a:moveTo>
                      <a:pt x="707" y="766"/>
                    </a:moveTo>
                    <a:cubicBezTo>
                      <a:pt x="702" y="762"/>
                      <a:pt x="702" y="755"/>
                      <a:pt x="707" y="750"/>
                    </a:cubicBezTo>
                    <a:cubicBezTo>
                      <a:pt x="711" y="746"/>
                      <a:pt x="718" y="746"/>
                      <a:pt x="722" y="750"/>
                    </a:cubicBezTo>
                    <a:cubicBezTo>
                      <a:pt x="758" y="786"/>
                      <a:pt x="758" y="786"/>
                      <a:pt x="758" y="786"/>
                    </a:cubicBezTo>
                    <a:cubicBezTo>
                      <a:pt x="762" y="791"/>
                      <a:pt x="762" y="798"/>
                      <a:pt x="758" y="802"/>
                    </a:cubicBezTo>
                    <a:cubicBezTo>
                      <a:pt x="754" y="806"/>
                      <a:pt x="747" y="806"/>
                      <a:pt x="742" y="802"/>
                    </a:cubicBezTo>
                    <a:lnTo>
                      <a:pt x="707" y="766"/>
                    </a:lnTo>
                    <a:close/>
                    <a:moveTo>
                      <a:pt x="112" y="171"/>
                    </a:moveTo>
                    <a:cubicBezTo>
                      <a:pt x="107" y="167"/>
                      <a:pt x="107" y="160"/>
                      <a:pt x="112" y="156"/>
                    </a:cubicBezTo>
                    <a:cubicBezTo>
                      <a:pt x="116" y="151"/>
                      <a:pt x="123" y="151"/>
                      <a:pt x="127" y="156"/>
                    </a:cubicBezTo>
                    <a:cubicBezTo>
                      <a:pt x="163" y="192"/>
                      <a:pt x="163" y="192"/>
                      <a:pt x="163" y="192"/>
                    </a:cubicBezTo>
                    <a:cubicBezTo>
                      <a:pt x="168" y="196"/>
                      <a:pt x="168" y="203"/>
                      <a:pt x="163" y="207"/>
                    </a:cubicBezTo>
                    <a:cubicBezTo>
                      <a:pt x="159" y="212"/>
                      <a:pt x="152" y="212"/>
                      <a:pt x="148" y="207"/>
                    </a:cubicBezTo>
                    <a:lnTo>
                      <a:pt x="112" y="171"/>
                    </a:lnTo>
                    <a:close/>
                    <a:moveTo>
                      <a:pt x="427" y="91"/>
                    </a:moveTo>
                    <a:cubicBezTo>
                      <a:pt x="425" y="89"/>
                      <a:pt x="424" y="87"/>
                      <a:pt x="424" y="84"/>
                    </a:cubicBezTo>
                    <a:cubicBezTo>
                      <a:pt x="424" y="11"/>
                      <a:pt x="424" y="11"/>
                      <a:pt x="424" y="11"/>
                    </a:cubicBezTo>
                    <a:cubicBezTo>
                      <a:pt x="424" y="5"/>
                      <a:pt x="429" y="0"/>
                      <a:pt x="435" y="0"/>
                    </a:cubicBezTo>
                    <a:cubicBezTo>
                      <a:pt x="438" y="0"/>
                      <a:pt x="441" y="1"/>
                      <a:pt x="443" y="3"/>
                    </a:cubicBezTo>
                    <a:cubicBezTo>
                      <a:pt x="445" y="5"/>
                      <a:pt x="446" y="8"/>
                      <a:pt x="446" y="11"/>
                    </a:cubicBezTo>
                    <a:cubicBezTo>
                      <a:pt x="446" y="84"/>
                      <a:pt x="446" y="84"/>
                      <a:pt x="446" y="84"/>
                    </a:cubicBezTo>
                    <a:cubicBezTo>
                      <a:pt x="446" y="87"/>
                      <a:pt x="445" y="89"/>
                      <a:pt x="443" y="91"/>
                    </a:cubicBezTo>
                    <a:cubicBezTo>
                      <a:pt x="441" y="94"/>
                      <a:pt x="438" y="95"/>
                      <a:pt x="435" y="95"/>
                    </a:cubicBezTo>
                    <a:cubicBezTo>
                      <a:pt x="432" y="95"/>
                      <a:pt x="429" y="94"/>
                      <a:pt x="427" y="91"/>
                    </a:cubicBezTo>
                    <a:close/>
                    <a:moveTo>
                      <a:pt x="822" y="485"/>
                    </a:moveTo>
                    <a:cubicBezTo>
                      <a:pt x="820" y="483"/>
                      <a:pt x="819" y="480"/>
                      <a:pt x="819" y="477"/>
                    </a:cubicBezTo>
                    <a:cubicBezTo>
                      <a:pt x="819" y="471"/>
                      <a:pt x="824" y="466"/>
                      <a:pt x="831" y="466"/>
                    </a:cubicBezTo>
                    <a:cubicBezTo>
                      <a:pt x="903" y="469"/>
                      <a:pt x="903" y="469"/>
                      <a:pt x="903" y="469"/>
                    </a:cubicBezTo>
                    <a:cubicBezTo>
                      <a:pt x="906" y="469"/>
                      <a:pt x="909" y="470"/>
                      <a:pt x="911" y="472"/>
                    </a:cubicBezTo>
                    <a:cubicBezTo>
                      <a:pt x="913" y="475"/>
                      <a:pt x="914" y="478"/>
                      <a:pt x="914" y="481"/>
                    </a:cubicBezTo>
                    <a:cubicBezTo>
                      <a:pt x="914" y="487"/>
                      <a:pt x="909" y="492"/>
                      <a:pt x="902" y="491"/>
                    </a:cubicBezTo>
                    <a:cubicBezTo>
                      <a:pt x="830" y="489"/>
                      <a:pt x="830" y="489"/>
                      <a:pt x="830" y="489"/>
                    </a:cubicBezTo>
                    <a:cubicBezTo>
                      <a:pt x="827" y="488"/>
                      <a:pt x="824" y="487"/>
                      <a:pt x="822" y="485"/>
                    </a:cubicBezTo>
                    <a:close/>
                    <a:moveTo>
                      <a:pt x="707" y="207"/>
                    </a:moveTo>
                    <a:cubicBezTo>
                      <a:pt x="702" y="203"/>
                      <a:pt x="702" y="196"/>
                      <a:pt x="707" y="192"/>
                    </a:cubicBezTo>
                    <a:cubicBezTo>
                      <a:pt x="770" y="128"/>
                      <a:pt x="770" y="128"/>
                      <a:pt x="770" y="128"/>
                    </a:cubicBezTo>
                    <a:cubicBezTo>
                      <a:pt x="775" y="123"/>
                      <a:pt x="782" y="123"/>
                      <a:pt x="786" y="128"/>
                    </a:cubicBezTo>
                    <a:cubicBezTo>
                      <a:pt x="790" y="132"/>
                      <a:pt x="790" y="139"/>
                      <a:pt x="786" y="143"/>
                    </a:cubicBezTo>
                    <a:cubicBezTo>
                      <a:pt x="722" y="207"/>
                      <a:pt x="722" y="207"/>
                      <a:pt x="722" y="207"/>
                    </a:cubicBezTo>
                    <a:cubicBezTo>
                      <a:pt x="718" y="212"/>
                      <a:pt x="711" y="212"/>
                      <a:pt x="707" y="207"/>
                    </a:cubicBezTo>
                    <a:close/>
                  </a:path>
                </a:pathLst>
              </a:custGeom>
              <a:solidFill>
                <a:srgbClr val="3976B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" name="文本框 2"/>
            <p:cNvSpPr txBox="1"/>
            <p:nvPr userDrawn="1"/>
          </p:nvSpPr>
          <p:spPr>
            <a:xfrm>
              <a:off x="1863" y="998"/>
              <a:ext cx="5596" cy="1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685800" fontAlgn="auto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4400" b="1" dirty="0"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目</a:t>
              </a:r>
              <a:r>
                <a:rPr lang="en-US" altLang="zh-CN" sz="4400" b="1" dirty="0"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 </a:t>
              </a:r>
              <a:r>
                <a:rPr lang="zh-CN" altLang="en-US" sz="4400" b="1" dirty="0"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录</a:t>
              </a:r>
              <a:endPara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  <a:cs typeface="+mj-cs"/>
              </a:endParaRPr>
            </a:p>
          </p:txBody>
        </p:sp>
      </p:grp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6】知识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71464" y="1556792"/>
            <a:ext cx="10255713" cy="792088"/>
          </a:xfrm>
        </p:spPr>
        <p:txBody>
          <a:bodyPr/>
          <a:lstStyle>
            <a:lvl1pPr marL="0" indent="0">
              <a:lnSpc>
                <a:spcPct val="150000"/>
              </a:lnSpc>
              <a:buFont typeface="+mj-lt"/>
              <a:buNone/>
              <a:defRPr sz="2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知识点</a:t>
            </a:r>
            <a:r>
              <a:rPr lang="en-US" altLang="zh-CN" dirty="0"/>
              <a:t>1</a:t>
            </a:r>
            <a:r>
              <a:rPr lang="zh-CN" altLang="en-US" dirty="0"/>
              <a:t>：教材</a:t>
            </a:r>
            <a:r>
              <a:rPr lang="en-US" altLang="zh-CN" dirty="0" err="1"/>
              <a:t>Pxx</a:t>
            </a:r>
            <a:endParaRPr lang="en-US" altLang="zh-CN" dirty="0"/>
          </a:p>
        </p:txBody>
      </p: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0" y="567349"/>
            <a:ext cx="12192000" cy="831626"/>
          </a:xfrm>
        </p:spPr>
        <p:txBody>
          <a:bodyPr>
            <a:normAutofit/>
          </a:bodyPr>
          <a:lstStyle>
            <a:lvl1pPr algn="ctr">
              <a:defRPr sz="4400" b="1" baseline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一、重点内容1</a:t>
            </a:r>
            <a:endParaRPr lang="zh-CN" altLang="en-US" dirty="0"/>
          </a:p>
        </p:txBody>
      </p:sp>
      <p:grpSp>
        <p:nvGrpSpPr>
          <p:cNvPr id="17" name="组合 91"/>
          <p:cNvGrpSpPr/>
          <p:nvPr userDrawn="1"/>
        </p:nvGrpSpPr>
        <p:grpSpPr>
          <a:xfrm>
            <a:off x="551384" y="1641475"/>
            <a:ext cx="568604" cy="563389"/>
            <a:chOff x="155575" y="3822532"/>
            <a:chExt cx="482247" cy="483420"/>
          </a:xfrm>
        </p:grpSpPr>
        <p:sp>
          <p:nvSpPr>
            <p:cNvPr id="18" name="Oval 223"/>
            <p:cNvSpPr>
              <a:spLocks noChangeArrowheads="1"/>
            </p:cNvSpPr>
            <p:nvPr/>
          </p:nvSpPr>
          <p:spPr bwMode="auto">
            <a:xfrm>
              <a:off x="155575" y="3822532"/>
              <a:ext cx="482247" cy="483420"/>
            </a:xfrm>
            <a:prstGeom prst="ellipse">
              <a:avLst/>
            </a:prstGeom>
            <a:solidFill>
              <a:srgbClr val="BD465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五角星 18"/>
            <p:cNvSpPr/>
            <p:nvPr/>
          </p:nvSpPr>
          <p:spPr bwMode="auto">
            <a:xfrm>
              <a:off x="253808" y="3921007"/>
              <a:ext cx="285781" cy="286471"/>
            </a:xfrm>
            <a:prstGeom prst="star5">
              <a:avLst/>
            </a:prstGeom>
            <a:solidFill>
              <a:srgbClr val="FFFF00"/>
            </a:solidFill>
            <a:ln w="25400">
              <a:solidFill>
                <a:srgbClr val="FFFF00"/>
              </a:solidFill>
            </a:ln>
            <a:effectLst/>
            <a:scene3d>
              <a:camera prst="orthographicFront"/>
              <a:lightRig rig="flat" dir="t"/>
            </a:scene3d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eaLnBrk="0" fontAlgn="ctr" hangingPunct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tabLst>
                  <a:tab pos="136525" algn="l"/>
                </a:tabLst>
              </a:pPr>
              <a:endParaRPr lang="zh-CN" altLang="en-US" sz="1050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348881"/>
            <a:ext cx="11055017" cy="1512168"/>
          </a:xfrm>
        </p:spPr>
        <p:txBody>
          <a:bodyPr/>
          <a:lstStyle>
            <a:lvl1pPr marL="0" marR="0" indent="45720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marL="0" marR="0" lvl="0" indent="45720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图文并茂展示知识点内容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。（要求清晰、详尽）</a:t>
            </a:r>
            <a:endParaRPr lang="zh-CN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7】对应的知识点的题目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130305" y="499319"/>
            <a:ext cx="5774007" cy="769441"/>
            <a:chOff x="2591113" y="510630"/>
            <a:chExt cx="4856914" cy="769441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3065577" y="510630"/>
              <a:ext cx="438245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zh-CN" sz="4400" b="1" i="0" u="none" strike="noStrike" kern="1200" cap="none" spc="0" normalizeH="0" baseline="0" noProof="1">
                  <a:solidFill>
                    <a:schemeClr val="tx1"/>
                  </a:solidFill>
                  <a:latin typeface="+mn-ea"/>
                  <a:ea typeface="宋体" panose="02010600030101010101" pitchFamily="2" charset="-122"/>
                  <a:cs typeface="+mn-ea"/>
                  <a:sym typeface="+mn-ea"/>
                </a:rPr>
                <a:t>对应知识点的</a:t>
              </a:r>
              <a:r>
                <a:rPr kumimoji="0" lang="zh-CN" altLang="en-US" sz="4400" b="1" i="0" u="none" strike="noStrike" kern="1200" cap="none" spc="0" normalizeH="0" baseline="0" noProof="1">
                  <a:solidFill>
                    <a:schemeClr val="tx1"/>
                  </a:solidFill>
                  <a:latin typeface="+mn-ea"/>
                  <a:ea typeface="宋体" panose="02010600030101010101" pitchFamily="2" charset="-122"/>
                  <a:cs typeface="+mn-ea"/>
                  <a:sym typeface="+mn-ea"/>
                </a:rPr>
                <a:t>题目讲解</a:t>
              </a:r>
              <a:endParaRPr lang="zh-CN" altLang="en-US" sz="4400" b="1" dirty="0"/>
            </a:p>
          </p:txBody>
        </p:sp>
        <p:pic>
          <p:nvPicPr>
            <p:cNvPr id="8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591113" y="620713"/>
              <a:ext cx="474464" cy="57603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527382" y="1556792"/>
            <a:ext cx="11137237" cy="244827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+mj-ea"/>
              <a:buNone/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dirty="0"/>
              <a:t>【</a:t>
            </a:r>
            <a:r>
              <a:rPr lang="zh-CN" altLang="en-US" dirty="0"/>
              <a:t>例题</a:t>
            </a:r>
            <a:r>
              <a:rPr lang="en-US" altLang="zh-CN" dirty="0"/>
              <a:t>1】</a:t>
            </a:r>
            <a:endParaRPr lang="en-US" altLang="zh-CN" dirty="0"/>
          </a:p>
          <a:p>
            <a:pPr lvl="0"/>
            <a:r>
              <a:rPr lang="en-US" altLang="zh-CN" dirty="0"/>
              <a:t>【</a:t>
            </a:r>
            <a:r>
              <a:rPr lang="zh-CN" altLang="en-US" dirty="0"/>
              <a:t>例题</a:t>
            </a:r>
            <a:r>
              <a:rPr lang="en-US" altLang="zh-CN" dirty="0"/>
              <a:t>2】</a:t>
            </a:r>
            <a:endParaRPr lang="en-US" altLang="zh-C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8】本周内容回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527382" y="1556792"/>
            <a:ext cx="11137237" cy="2448272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ea"/>
              <a:buAutoNum type="ea1JpnChsDbPeriod"/>
              <a:defRPr sz="2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重点内容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en-US" altLang="zh-CN" dirty="0"/>
              <a:t>重点内容2</a:t>
            </a:r>
            <a:endParaRPr lang="en-US" altLang="zh-CN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984507" y="499319"/>
            <a:ext cx="3335629" cy="769441"/>
            <a:chOff x="2413000" y="510630"/>
            <a:chExt cx="3306112" cy="769441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3034242" y="510630"/>
              <a:ext cx="268487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4400" b="1" i="0" u="none" strike="noStrike" kern="1200" cap="none" spc="0" normalizeH="0" baseline="0" noProof="1">
                  <a:solidFill>
                    <a:schemeClr val="tx1"/>
                  </a:solidFill>
                  <a:latin typeface="+mn-ea"/>
                  <a:ea typeface="宋体" panose="02010600030101010101" pitchFamily="2" charset="-122"/>
                  <a:cs typeface="+mn-ea"/>
                  <a:sym typeface="+mn-ea"/>
                </a:rPr>
                <a:t>本周内容回顾</a:t>
              </a:r>
              <a:endParaRPr lang="zh-CN" altLang="en-US" sz="4400" b="1" dirty="0"/>
            </a:p>
          </p:txBody>
        </p:sp>
        <p:grpSp>
          <p:nvGrpSpPr>
            <p:cNvPr id="20" name="组合 129"/>
            <p:cNvGrpSpPr/>
            <p:nvPr userDrawn="1"/>
          </p:nvGrpSpPr>
          <p:grpSpPr>
            <a:xfrm>
              <a:off x="2413000" y="603250"/>
              <a:ext cx="615950" cy="584200"/>
              <a:chOff x="2439302" y="2313207"/>
              <a:chExt cx="481033" cy="481033"/>
            </a:xfrm>
          </p:grpSpPr>
          <p:sp>
            <p:nvSpPr>
              <p:cNvPr id="21" name="Oval 351"/>
              <p:cNvSpPr>
                <a:spLocks noChangeArrowheads="1"/>
              </p:cNvSpPr>
              <p:nvPr/>
            </p:nvSpPr>
            <p:spPr bwMode="auto">
              <a:xfrm>
                <a:off x="2439302" y="2313207"/>
                <a:ext cx="481033" cy="481033"/>
              </a:xfrm>
              <a:prstGeom prst="ellipse">
                <a:avLst/>
              </a:prstGeom>
              <a:solidFill>
                <a:srgbClr val="739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Freeform 352"/>
              <p:cNvSpPr/>
              <p:nvPr/>
            </p:nvSpPr>
            <p:spPr bwMode="auto">
              <a:xfrm>
                <a:off x="2537400" y="2475127"/>
                <a:ext cx="380571" cy="319113"/>
              </a:xfrm>
              <a:custGeom>
                <a:avLst/>
                <a:gdLst>
                  <a:gd name="T0" fmla="*/ 138 w 203"/>
                  <a:gd name="T1" fmla="*/ 0 h 170"/>
                  <a:gd name="T2" fmla="*/ 112 w 203"/>
                  <a:gd name="T3" fmla="*/ 27 h 170"/>
                  <a:gd name="T4" fmla="*/ 115 w 203"/>
                  <a:gd name="T5" fmla="*/ 31 h 170"/>
                  <a:gd name="T6" fmla="*/ 0 w 203"/>
                  <a:gd name="T7" fmla="*/ 97 h 170"/>
                  <a:gd name="T8" fmla="*/ 73 w 203"/>
                  <a:gd name="T9" fmla="*/ 170 h 170"/>
                  <a:gd name="T10" fmla="*/ 76 w 203"/>
                  <a:gd name="T11" fmla="*/ 170 h 170"/>
                  <a:gd name="T12" fmla="*/ 203 w 203"/>
                  <a:gd name="T13" fmla="*/ 60 h 170"/>
                  <a:gd name="T14" fmla="*/ 152 w 203"/>
                  <a:gd name="T15" fmla="*/ 9 h 170"/>
                  <a:gd name="T16" fmla="*/ 149 w 203"/>
                  <a:gd name="T17" fmla="*/ 11 h 170"/>
                  <a:gd name="T18" fmla="*/ 138 w 203"/>
                  <a:gd name="T19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3" h="170">
                    <a:moveTo>
                      <a:pt x="138" y="0"/>
                    </a:moveTo>
                    <a:cubicBezTo>
                      <a:pt x="112" y="27"/>
                      <a:pt x="112" y="27"/>
                      <a:pt x="112" y="27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73" y="170"/>
                      <a:pt x="73" y="170"/>
                      <a:pt x="73" y="170"/>
                    </a:cubicBezTo>
                    <a:cubicBezTo>
                      <a:pt x="74" y="170"/>
                      <a:pt x="75" y="170"/>
                      <a:pt x="76" y="170"/>
                    </a:cubicBezTo>
                    <a:cubicBezTo>
                      <a:pt x="141" y="170"/>
                      <a:pt x="194" y="122"/>
                      <a:pt x="203" y="60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49" y="11"/>
                      <a:pt x="149" y="11"/>
                      <a:pt x="149" y="11"/>
                    </a:cubicBez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618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Rectangle 353"/>
              <p:cNvSpPr>
                <a:spLocks noChangeArrowheads="1"/>
              </p:cNvSpPr>
              <p:nvPr/>
            </p:nvSpPr>
            <p:spPr bwMode="auto">
              <a:xfrm>
                <a:off x="2537400" y="2491674"/>
                <a:ext cx="284838" cy="165466"/>
              </a:xfrm>
              <a:prstGeom prst="rect">
                <a:avLst/>
              </a:prstGeom>
              <a:solidFill>
                <a:srgbClr val="505A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Freeform 354"/>
              <p:cNvSpPr/>
              <p:nvPr/>
            </p:nvSpPr>
            <p:spPr bwMode="auto">
              <a:xfrm>
                <a:off x="2563402" y="2471582"/>
                <a:ext cx="232834" cy="200923"/>
              </a:xfrm>
              <a:custGeom>
                <a:avLst/>
                <a:gdLst>
                  <a:gd name="T0" fmla="*/ 124 w 124"/>
                  <a:gd name="T1" fmla="*/ 93 h 107"/>
                  <a:gd name="T2" fmla="*/ 124 w 124"/>
                  <a:gd name="T3" fmla="*/ 2 h 107"/>
                  <a:gd name="T4" fmla="*/ 114 w 124"/>
                  <a:gd name="T5" fmla="*/ 1 h 107"/>
                  <a:gd name="T6" fmla="*/ 104 w 124"/>
                  <a:gd name="T7" fmla="*/ 0 h 107"/>
                  <a:gd name="T8" fmla="*/ 79 w 124"/>
                  <a:gd name="T9" fmla="*/ 4 h 107"/>
                  <a:gd name="T10" fmla="*/ 62 w 124"/>
                  <a:gd name="T11" fmla="*/ 10 h 107"/>
                  <a:gd name="T12" fmla="*/ 45 w 124"/>
                  <a:gd name="T13" fmla="*/ 4 h 107"/>
                  <a:gd name="T14" fmla="*/ 20 w 124"/>
                  <a:gd name="T15" fmla="*/ 0 h 107"/>
                  <a:gd name="T16" fmla="*/ 10 w 124"/>
                  <a:gd name="T17" fmla="*/ 1 h 107"/>
                  <a:gd name="T18" fmla="*/ 0 w 124"/>
                  <a:gd name="T19" fmla="*/ 2 h 107"/>
                  <a:gd name="T20" fmla="*/ 0 w 124"/>
                  <a:gd name="T21" fmla="*/ 93 h 107"/>
                  <a:gd name="T22" fmla="*/ 48 w 124"/>
                  <a:gd name="T23" fmla="*/ 99 h 107"/>
                  <a:gd name="T24" fmla="*/ 62 w 124"/>
                  <a:gd name="T25" fmla="*/ 107 h 107"/>
                  <a:gd name="T26" fmla="*/ 76 w 124"/>
                  <a:gd name="T27" fmla="*/ 99 h 107"/>
                  <a:gd name="T28" fmla="*/ 124 w 124"/>
                  <a:gd name="T29" fmla="*/ 9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4" h="107">
                    <a:moveTo>
                      <a:pt x="124" y="93"/>
                    </a:moveTo>
                    <a:cubicBezTo>
                      <a:pt x="124" y="2"/>
                      <a:pt x="124" y="2"/>
                      <a:pt x="124" y="2"/>
                    </a:cubicBezTo>
                    <a:cubicBezTo>
                      <a:pt x="114" y="1"/>
                      <a:pt x="114" y="1"/>
                      <a:pt x="114" y="1"/>
                    </a:cubicBezTo>
                    <a:cubicBezTo>
                      <a:pt x="111" y="1"/>
                      <a:pt x="107" y="0"/>
                      <a:pt x="104" y="0"/>
                    </a:cubicBezTo>
                    <a:cubicBezTo>
                      <a:pt x="95" y="0"/>
                      <a:pt x="87" y="1"/>
                      <a:pt x="79" y="4"/>
                    </a:cubicBezTo>
                    <a:cubicBezTo>
                      <a:pt x="73" y="5"/>
                      <a:pt x="67" y="7"/>
                      <a:pt x="62" y="10"/>
                    </a:cubicBezTo>
                    <a:cubicBezTo>
                      <a:pt x="57" y="7"/>
                      <a:pt x="51" y="5"/>
                      <a:pt x="45" y="4"/>
                    </a:cubicBezTo>
                    <a:cubicBezTo>
                      <a:pt x="37" y="1"/>
                      <a:pt x="29" y="0"/>
                      <a:pt x="20" y="0"/>
                    </a:cubicBezTo>
                    <a:cubicBezTo>
                      <a:pt x="17" y="0"/>
                      <a:pt x="13" y="1"/>
                      <a:pt x="1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48" y="99"/>
                      <a:pt x="48" y="99"/>
                      <a:pt x="48" y="99"/>
                    </a:cubicBezTo>
                    <a:cubicBezTo>
                      <a:pt x="51" y="100"/>
                      <a:pt x="62" y="107"/>
                      <a:pt x="62" y="107"/>
                    </a:cubicBezTo>
                    <a:cubicBezTo>
                      <a:pt x="62" y="107"/>
                      <a:pt x="73" y="100"/>
                      <a:pt x="76" y="99"/>
                    </a:cubicBezTo>
                    <a:cubicBezTo>
                      <a:pt x="76" y="99"/>
                      <a:pt x="102" y="91"/>
                      <a:pt x="124" y="93"/>
                    </a:cubicBezTo>
                    <a:close/>
                  </a:path>
                </a:pathLst>
              </a:custGeom>
              <a:solidFill>
                <a:srgbClr val="F5F7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Freeform 355"/>
              <p:cNvSpPr/>
              <p:nvPr/>
            </p:nvSpPr>
            <p:spPr bwMode="auto">
              <a:xfrm>
                <a:off x="2668591" y="2484583"/>
                <a:ext cx="22456" cy="187922"/>
              </a:xfrm>
              <a:custGeom>
                <a:avLst/>
                <a:gdLst>
                  <a:gd name="T0" fmla="*/ 0 w 12"/>
                  <a:gd name="T1" fmla="*/ 96 h 100"/>
                  <a:gd name="T2" fmla="*/ 6 w 12"/>
                  <a:gd name="T3" fmla="*/ 100 h 100"/>
                  <a:gd name="T4" fmla="*/ 12 w 12"/>
                  <a:gd name="T5" fmla="*/ 96 h 100"/>
                  <a:gd name="T6" fmla="*/ 12 w 12"/>
                  <a:gd name="T7" fmla="*/ 0 h 100"/>
                  <a:gd name="T8" fmla="*/ 6 w 12"/>
                  <a:gd name="T9" fmla="*/ 3 h 100"/>
                  <a:gd name="T10" fmla="*/ 0 w 12"/>
                  <a:gd name="T11" fmla="*/ 0 h 100"/>
                  <a:gd name="T12" fmla="*/ 0 w 12"/>
                  <a:gd name="T13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00">
                    <a:moveTo>
                      <a:pt x="0" y="96"/>
                    </a:moveTo>
                    <a:cubicBezTo>
                      <a:pt x="3" y="98"/>
                      <a:pt x="6" y="100"/>
                      <a:pt x="6" y="100"/>
                    </a:cubicBezTo>
                    <a:cubicBezTo>
                      <a:pt x="6" y="100"/>
                      <a:pt x="9" y="98"/>
                      <a:pt x="12" y="9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1"/>
                      <a:pt x="8" y="2"/>
                      <a:pt x="6" y="3"/>
                    </a:cubicBezTo>
                    <a:cubicBezTo>
                      <a:pt x="4" y="2"/>
                      <a:pt x="2" y="1"/>
                      <a:pt x="0" y="0"/>
                    </a:cubicBez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E6E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10】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5"/>
          <p:cNvSpPr>
            <a:spLocks noEditPoints="1"/>
          </p:cNvSpPr>
          <p:nvPr userDrawn="1"/>
        </p:nvSpPr>
        <p:spPr>
          <a:xfrm>
            <a:off x="0" y="263526"/>
            <a:ext cx="12192000" cy="2352675"/>
          </a:xfrm>
          <a:custGeom>
            <a:avLst/>
            <a:gdLst/>
            <a:ahLst/>
            <a:cxnLst>
              <a:cxn ang="0">
                <a:pos x="9067419" y="2163485"/>
              </a:cxn>
              <a:cxn ang="0">
                <a:pos x="8951976" y="2006334"/>
              </a:cxn>
              <a:cxn ang="0">
                <a:pos x="8844534" y="2062786"/>
              </a:cxn>
              <a:cxn ang="0">
                <a:pos x="8770239" y="2038375"/>
              </a:cxn>
              <a:cxn ang="0">
                <a:pos x="8615934" y="2003283"/>
              </a:cxn>
              <a:cxn ang="0">
                <a:pos x="8492490" y="1963614"/>
              </a:cxn>
              <a:cxn ang="0">
                <a:pos x="8334756" y="2071941"/>
              </a:cxn>
              <a:cxn ang="0">
                <a:pos x="8195310" y="2062786"/>
              </a:cxn>
              <a:cxn ang="0">
                <a:pos x="7992999" y="2136021"/>
              </a:cxn>
              <a:cxn ang="0">
                <a:pos x="7870698" y="2070415"/>
              </a:cxn>
              <a:cxn ang="0">
                <a:pos x="7733538" y="2105507"/>
              </a:cxn>
              <a:cxn ang="0">
                <a:pos x="7589520" y="1821721"/>
              </a:cxn>
              <a:cxn ang="0">
                <a:pos x="7435215" y="1765269"/>
              </a:cxn>
              <a:cxn ang="0">
                <a:pos x="7293483" y="2000231"/>
              </a:cxn>
              <a:cxn ang="0">
                <a:pos x="7134606" y="1801887"/>
              </a:cxn>
              <a:cxn ang="0">
                <a:pos x="6501384" y="1248047"/>
              </a:cxn>
              <a:cxn ang="0">
                <a:pos x="6167628" y="1028342"/>
              </a:cxn>
              <a:cxn ang="0">
                <a:pos x="6110478" y="938324"/>
              </a:cxn>
              <a:cxn ang="0">
                <a:pos x="6048756" y="1943779"/>
              </a:cxn>
              <a:cxn ang="0">
                <a:pos x="5723001" y="1661520"/>
              </a:cxn>
              <a:cxn ang="0">
                <a:pos x="5508117" y="1045125"/>
              </a:cxn>
              <a:cxn ang="0">
                <a:pos x="5189220" y="1907162"/>
              </a:cxn>
              <a:cxn ang="0">
                <a:pos x="5113782" y="1914791"/>
              </a:cxn>
              <a:cxn ang="0">
                <a:pos x="5026914" y="1930048"/>
              </a:cxn>
              <a:cxn ang="0">
                <a:pos x="4898898" y="1725600"/>
              </a:cxn>
              <a:cxn ang="0">
                <a:pos x="4624578" y="1704240"/>
              </a:cxn>
              <a:cxn ang="0">
                <a:pos x="4483989" y="1487586"/>
              </a:cxn>
              <a:cxn ang="0">
                <a:pos x="4277106" y="1670674"/>
              </a:cxn>
              <a:cxn ang="0">
                <a:pos x="4097655" y="2158907"/>
              </a:cxn>
              <a:cxn ang="0">
                <a:pos x="3958209" y="1914791"/>
              </a:cxn>
              <a:cxn ang="0">
                <a:pos x="3874770" y="567571"/>
              </a:cxn>
              <a:cxn ang="0">
                <a:pos x="3848481" y="285311"/>
              </a:cxn>
              <a:cxn ang="0">
                <a:pos x="3805047" y="1060382"/>
              </a:cxn>
              <a:cxn ang="0">
                <a:pos x="3425571" y="2256554"/>
              </a:cxn>
              <a:cxn ang="0">
                <a:pos x="3196971" y="1707291"/>
              </a:cxn>
              <a:cxn ang="0">
                <a:pos x="3003804" y="2093301"/>
              </a:cxn>
              <a:cxn ang="0">
                <a:pos x="2823210" y="2102455"/>
              </a:cxn>
              <a:cxn ang="0">
                <a:pos x="2640330" y="2197051"/>
              </a:cxn>
              <a:cxn ang="0">
                <a:pos x="2459736" y="2122290"/>
              </a:cxn>
              <a:cxn ang="0">
                <a:pos x="2348865" y="2232142"/>
              </a:cxn>
              <a:cxn ang="0">
                <a:pos x="2257425" y="2256554"/>
              </a:cxn>
              <a:cxn ang="0">
                <a:pos x="2063115" y="2221462"/>
              </a:cxn>
              <a:cxn ang="0">
                <a:pos x="1912239" y="2241297"/>
              </a:cxn>
              <a:cxn ang="0">
                <a:pos x="1749933" y="2148227"/>
              </a:cxn>
              <a:cxn ang="0">
                <a:pos x="1649349" y="1930048"/>
              </a:cxn>
              <a:cxn ang="0">
                <a:pos x="1432179" y="2168062"/>
              </a:cxn>
              <a:cxn ang="0">
                <a:pos x="1320165" y="2137547"/>
              </a:cxn>
              <a:cxn ang="0">
                <a:pos x="1201293" y="2119238"/>
              </a:cxn>
              <a:cxn ang="0">
                <a:pos x="1107567" y="1867493"/>
              </a:cxn>
              <a:cxn ang="0">
                <a:pos x="963549" y="2097878"/>
              </a:cxn>
              <a:cxn ang="0">
                <a:pos x="758952" y="2177216"/>
              </a:cxn>
              <a:cxn ang="0">
                <a:pos x="588645" y="1893430"/>
              </a:cxn>
              <a:cxn ang="0">
                <a:pos x="365760" y="1899533"/>
              </a:cxn>
              <a:cxn ang="0">
                <a:pos x="249174" y="2047529"/>
              </a:cxn>
              <a:cxn ang="0">
                <a:pos x="64008" y="2070415"/>
              </a:cxn>
              <a:cxn ang="0">
                <a:pos x="3850767" y="2148227"/>
              </a:cxn>
              <a:cxn ang="0">
                <a:pos x="3835908" y="1740857"/>
              </a:cxn>
              <a:cxn ang="0">
                <a:pos x="3835908" y="1330436"/>
              </a:cxn>
              <a:cxn ang="0">
                <a:pos x="3835908" y="1153452"/>
              </a:cxn>
            </a:cxnLst>
            <a:rect l="0" t="0" r="0" b="0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"/>
          <p:cNvSpPr/>
          <p:nvPr userDrawn="1"/>
        </p:nvSpPr>
        <p:spPr>
          <a:xfrm>
            <a:off x="0" y="2625725"/>
            <a:ext cx="12192000" cy="1714500"/>
          </a:xfrm>
          <a:prstGeom prst="rect">
            <a:avLst/>
          </a:prstGeom>
          <a:solidFill>
            <a:srgbClr val="28A9D6"/>
          </a:solidFill>
          <a:ln w="9525">
            <a:noFill/>
          </a:ln>
        </p:spPr>
        <p:txBody>
          <a:bodyPr lIns="121920" tIns="60960" rIns="121920" bIns="60960" anchor="t"/>
          <a:lstStyle/>
          <a:p>
            <a:endParaRPr lang="zh-CN" altLang="zh-CN" sz="2400" dirty="0">
              <a:solidFill>
                <a:srgbClr val="000000"/>
              </a:solidFill>
              <a:latin typeface="Copperplate Gothic Bold" panose="020E0705020206020404" pitchFamily="34" charset="0"/>
              <a:ea typeface="微软雅黑" panose="020B0503020204020204" pitchFamily="34" charset="-122"/>
              <a:sym typeface="Copperplate Gothic Bold" panose="020E0705020206020404" pitchFamily="34" charset="0"/>
            </a:endParaRPr>
          </a:p>
        </p:txBody>
      </p:sp>
      <p:sp>
        <p:nvSpPr>
          <p:cNvPr id="23" name="TextBox 13"/>
          <p:cNvSpPr txBox="1"/>
          <p:nvPr userDrawn="1"/>
        </p:nvSpPr>
        <p:spPr>
          <a:xfrm>
            <a:off x="2246842" y="3027124"/>
            <a:ext cx="7698316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latin typeface="Tahoma" panose="020B0604030504040204" pitchFamily="34" charset="0"/>
                <a:ea typeface="宋体" panose="02010600030101010101" pitchFamily="2" charset="-122"/>
              </a:rPr>
              <a:t>今天的课程到此结束</a:t>
            </a:r>
            <a:endParaRPr lang="zh-CN" altLang="en-US" sz="40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计软logo透明"/>
          <p:cNvPicPr>
            <a:picLocks noChangeAspect="1"/>
          </p:cNvPicPr>
          <p:nvPr userDrawn="1"/>
        </p:nvPicPr>
        <p:blipFill rotWithShape="1">
          <a:blip r:embed="rId8"/>
          <a:srcRect r="42196" b="44470"/>
          <a:stretch>
            <a:fillRect/>
          </a:stretch>
        </p:blipFill>
        <p:spPr>
          <a:xfrm>
            <a:off x="9336360" y="4164966"/>
            <a:ext cx="2904324" cy="272041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" y="616585"/>
            <a:ext cx="10515600" cy="79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035" y="14852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A0DB2DC-4C9A-4742-B13C-FB6460FD3503}" type="slidenum">
              <a:rPr lang="en-US" altLang="zh-CN" noProof="1" smtClean="0">
                <a:ea typeface="Tahoma" panose="020B0604030504040204" pitchFamily="34" charset="0"/>
              </a:rPr>
            </a:fld>
            <a:endParaRPr lang="en-US" altLang="zh-CN" noProof="1">
              <a:ea typeface="Tahoma" panose="020B0604030504040204" pitchFamily="34" charset="0"/>
            </a:endParaRPr>
          </a:p>
        </p:txBody>
      </p:sp>
      <p:sp>
        <p:nvSpPr>
          <p:cNvPr id="8" name="直接连接符 40"/>
          <p:cNvSpPr/>
          <p:nvPr userDrawn="1"/>
        </p:nvSpPr>
        <p:spPr>
          <a:xfrm>
            <a:off x="8033967" y="6539338"/>
            <a:ext cx="4173644" cy="24674"/>
          </a:xfrm>
          <a:prstGeom prst="line">
            <a:avLst/>
          </a:prstGeom>
          <a:ln w="19050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9" name="文本框 42"/>
          <p:cNvSpPr/>
          <p:nvPr userDrawn="1"/>
        </p:nvSpPr>
        <p:spPr>
          <a:xfrm>
            <a:off x="5087888" y="6395622"/>
            <a:ext cx="2819295" cy="261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algn="dist"/>
            <a:r>
              <a:rPr lang="zh-CN" altLang="en-US" sz="1100" dirty="0">
                <a:solidFill>
                  <a:srgbClr val="3F3F3F"/>
                </a:solidFill>
                <a:latin typeface="Copperplate Gothic Bold" panose="020E0705020206020404" pitchFamily="34" charset="0"/>
                <a:ea typeface="微软雅黑" panose="020B0503020204020204" pitchFamily="34" charset="-122"/>
                <a:sym typeface="Copperplate Gothic Bold" panose="020E0705020206020404" pitchFamily="34" charset="0"/>
              </a:rPr>
              <a:t>深圳大学计算机与软件学院</a:t>
            </a:r>
            <a:endParaRPr lang="zh-CN" altLang="en-US" sz="1100" dirty="0">
              <a:solidFill>
                <a:srgbClr val="3F3F3F"/>
              </a:solidFill>
              <a:latin typeface="Copperplate Gothic Bold" panose="020E0705020206020404" pitchFamily="34" charset="0"/>
              <a:ea typeface="微软雅黑" panose="020B0503020204020204" pitchFamily="34" charset="-122"/>
              <a:sym typeface="Copperplate Gothic Bold" panose="020E0705020206020404" pitchFamily="34" charset="0"/>
            </a:endParaRPr>
          </a:p>
        </p:txBody>
      </p:sp>
      <p:sp>
        <p:nvSpPr>
          <p:cNvPr id="10" name="直接连接符 40"/>
          <p:cNvSpPr/>
          <p:nvPr userDrawn="1"/>
        </p:nvSpPr>
        <p:spPr>
          <a:xfrm>
            <a:off x="-48684" y="6526427"/>
            <a:ext cx="4222751" cy="9311"/>
          </a:xfrm>
          <a:prstGeom prst="line">
            <a:avLst/>
          </a:prstGeom>
          <a:ln w="19050" cap="flat" cmpd="sng">
            <a:solidFill>
              <a:srgbClr val="28A9D6"/>
            </a:solidFill>
            <a:prstDash val="solid"/>
            <a:bevel/>
            <a:headEnd type="none" w="med" len="med"/>
            <a:tailEnd type="none" w="med" len="med"/>
          </a:ln>
        </p:spPr>
      </p:sp>
      <p:pic>
        <p:nvPicPr>
          <p:cNvPr id="11" name="图片 10" descr="图片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65702" y="6237312"/>
            <a:ext cx="894194" cy="582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 descr="计软logo透明"/>
          <p:cNvPicPr>
            <a:picLocks noChangeAspect="1"/>
          </p:cNvPicPr>
          <p:nvPr userDrawn="1"/>
        </p:nvPicPr>
        <p:blipFill rotWithShape="1">
          <a:blip r:embed="rId8"/>
          <a:srcRect l="42705" t="43446"/>
          <a:stretch>
            <a:fillRect/>
          </a:stretch>
        </p:blipFill>
        <p:spPr>
          <a:xfrm>
            <a:off x="-48682" y="-27384"/>
            <a:ext cx="2842684" cy="2770584"/>
          </a:xfrm>
          <a:prstGeom prst="rect">
            <a:avLst/>
          </a:prstGeom>
        </p:spPr>
      </p:pic>
      <p:sp>
        <p:nvSpPr>
          <p:cNvPr id="13" name="任意多边形 28"/>
          <p:cNvSpPr/>
          <p:nvPr userDrawn="1"/>
        </p:nvSpPr>
        <p:spPr>
          <a:xfrm flipV="1">
            <a:off x="232834" y="979489"/>
            <a:ext cx="2561167" cy="433387"/>
          </a:xfrm>
          <a:custGeom>
            <a:avLst/>
            <a:gdLst/>
            <a:ahLst/>
            <a:cxnLst>
              <a:cxn ang="0">
                <a:pos x="232454" y="433387"/>
              </a:cxn>
              <a:cxn ang="0">
                <a:pos x="233873" y="433387"/>
              </a:cxn>
              <a:cxn ang="0">
                <a:pos x="233873" y="12052"/>
              </a:cxn>
              <a:cxn ang="0">
                <a:pos x="1920875" y="12052"/>
              </a:cxn>
              <a:cxn ang="0">
                <a:pos x="1920875" y="0"/>
              </a:cxn>
              <a:cxn ang="0">
                <a:pos x="232454" y="0"/>
              </a:cxn>
              <a:cxn ang="0">
                <a:pos x="211922" y="0"/>
              </a:cxn>
              <a:cxn ang="0">
                <a:pos x="211922" y="418796"/>
              </a:cxn>
              <a:cxn ang="0">
                <a:pos x="148596" y="418796"/>
              </a:cxn>
              <a:cxn ang="0">
                <a:pos x="148596" y="0"/>
              </a:cxn>
              <a:cxn ang="0">
                <a:pos x="0" y="0"/>
              </a:cxn>
              <a:cxn ang="0">
                <a:pos x="0" y="433386"/>
              </a:cxn>
              <a:cxn ang="0">
                <a:pos x="46864" y="433386"/>
              </a:cxn>
              <a:cxn ang="0">
                <a:pos x="46864" y="19658"/>
              </a:cxn>
              <a:cxn ang="0">
                <a:pos x="110191" y="19658"/>
              </a:cxn>
              <a:cxn ang="0">
                <a:pos x="110191" y="433386"/>
              </a:cxn>
              <a:cxn ang="0">
                <a:pos x="232454" y="433386"/>
              </a:cxn>
              <a:cxn ang="0">
                <a:pos x="232454" y="433387"/>
              </a:cxn>
            </a:cxnLst>
            <a:rect l="0" t="0" r="0" b="0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 w="25400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程序设计入门与实践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969424" y="6575583"/>
            <a:ext cx="2743200" cy="282417"/>
          </a:xfrm>
        </p:spPr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Python</a:t>
            </a:r>
            <a:r>
              <a:rPr lang="zh-CN" altLang="en-US" dirty="0">
                <a:sym typeface="+mn-ea"/>
              </a:rPr>
              <a:t>输入输出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基本</a:t>
            </a:r>
            <a:r>
              <a:rPr lang="zh-CN" altLang="zh-CN" dirty="0"/>
              <a:t>运算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程序控制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Python</a:t>
            </a:r>
            <a:r>
              <a:rPr lang="zh-CN" altLang="en-US" dirty="0"/>
              <a:t>输入输出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822960" y="2212975"/>
            <a:ext cx="9936480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、在一行中输入一门语言的名称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b="0" dirty="0"/>
              <a:t>例如输入</a:t>
            </a:r>
            <a:r>
              <a:rPr lang="en-US" altLang="zh-CN" sz="2400" b="0" dirty="0"/>
              <a:t>:Python</a:t>
            </a:r>
            <a:endParaRPr lang="en-US" altLang="zh-CN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、输出以下两行信息：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	</a:t>
            </a:r>
            <a:r>
              <a:rPr lang="zh-CN" altLang="en-US" sz="2400" b="0" dirty="0"/>
              <a:t>好好学</a:t>
            </a:r>
            <a:r>
              <a:rPr lang="en-US" altLang="zh-CN" sz="2400" b="0" dirty="0"/>
              <a:t>Python</a:t>
            </a:r>
            <a:endParaRPr lang="en-US" altLang="zh-CN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      Python</a:t>
            </a:r>
            <a:r>
              <a:rPr lang="zh-CN" altLang="en-US" sz="2400" b="0" dirty="0"/>
              <a:t>棒棒的</a:t>
            </a:r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Python</a:t>
            </a:r>
            <a:r>
              <a:rPr lang="zh-CN" altLang="en-US"/>
              <a:t>完成以下输入和输出操作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426960" y="2639695"/>
            <a:ext cx="3723640" cy="3152775"/>
            <a:chOff x="11696" y="4157"/>
            <a:chExt cx="5864" cy="4965"/>
          </a:xfrm>
        </p:grpSpPr>
        <p:sp>
          <p:nvSpPr>
            <p:cNvPr id="2" name="文本框 1"/>
            <p:cNvSpPr txBox="1"/>
            <p:nvPr/>
          </p:nvSpPr>
          <p:spPr>
            <a:xfrm>
              <a:off x="11696" y="4157"/>
              <a:ext cx="5864" cy="2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81" y="7230"/>
              <a:ext cx="5094" cy="189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27685" y="1557020"/>
            <a:ext cx="6010275" cy="4221480"/>
          </a:xfrm>
        </p:spPr>
        <p:txBody>
          <a:bodyPr>
            <a:normAutofit lnSpcReduction="20000"/>
          </a:bodyPr>
          <a:lstStyle/>
          <a:p>
            <a:r>
              <a:rPr lang="zh-CN" altLang="en-US" dirty="0"/>
              <a:t>程序讲解：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1</a:t>
            </a:r>
            <a:r>
              <a:rPr lang="zh-CN" altLang="en-US" dirty="0"/>
              <a:t>）第一行代码使用</a:t>
            </a:r>
            <a:r>
              <a:rPr lang="en-US" altLang="zh-CN" dirty="0"/>
              <a:t>input</a:t>
            </a:r>
            <a:r>
              <a:rPr lang="zh-CN" altLang="en-US" dirty="0"/>
              <a:t>函数实现键盘输入数据，并且先输出了提示信息</a:t>
            </a:r>
            <a:r>
              <a:rPr lang="en-US" altLang="zh-CN" dirty="0"/>
              <a:t>“</a:t>
            </a:r>
            <a:r>
              <a:rPr lang="zh-CN" altLang="en-US" dirty="0"/>
              <a:t>输入一门语言名称</a:t>
            </a:r>
            <a:r>
              <a:rPr lang="en-US" altLang="zh-CN" dirty="0"/>
              <a:t>”</a:t>
            </a:r>
            <a:r>
              <a:rPr lang="zh-CN" altLang="en-US" dirty="0"/>
              <a:t>，键盘输入的结果保存在变量</a:t>
            </a:r>
            <a:r>
              <a:rPr lang="en-US" altLang="zh-CN" dirty="0"/>
              <a:t>str</a:t>
            </a:r>
            <a:r>
              <a:rPr lang="zh-CN" altLang="en-US" dirty="0"/>
              <a:t>中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2</a:t>
            </a:r>
            <a:r>
              <a:rPr lang="zh-CN" altLang="en-US" dirty="0"/>
              <a:t>）第二行代码使用</a:t>
            </a:r>
            <a:r>
              <a:rPr lang="en-US" altLang="zh-CN" dirty="0"/>
              <a:t>print</a:t>
            </a:r>
            <a:r>
              <a:rPr lang="zh-CN" altLang="en-US" dirty="0"/>
              <a:t>函数输出一行信息，这行信息用一对单引号</a:t>
            </a:r>
            <a:r>
              <a:rPr lang="en-US" altLang="zh-CN" dirty="0"/>
              <a:t>‘’</a:t>
            </a:r>
            <a:r>
              <a:rPr lang="zh-CN" altLang="en-US" dirty="0"/>
              <a:t>括住，其中</a:t>
            </a:r>
            <a:r>
              <a:rPr lang="en-US" altLang="zh-CN" dirty="0"/>
              <a:t>{0}</a:t>
            </a:r>
            <a:r>
              <a:rPr lang="zh-CN" altLang="en-US" dirty="0"/>
              <a:t>表示可替代内容，在后面</a:t>
            </a:r>
            <a:r>
              <a:rPr lang="en-US" altLang="zh-CN" dirty="0"/>
              <a:t>.format</a:t>
            </a:r>
            <a:r>
              <a:rPr lang="zh-CN" altLang="en-US" dirty="0"/>
              <a:t>方法中，变量</a:t>
            </a:r>
            <a:r>
              <a:rPr lang="en-US" altLang="zh-CN" dirty="0"/>
              <a:t>str</a:t>
            </a:r>
            <a:r>
              <a:rPr lang="zh-CN" altLang="en-US" dirty="0"/>
              <a:t>替代</a:t>
            </a:r>
            <a:r>
              <a:rPr lang="en-US" altLang="zh-CN" dirty="0"/>
              <a:t>{0}</a:t>
            </a:r>
            <a:r>
              <a:rPr lang="zh-CN" altLang="en-US" dirty="0"/>
              <a:t>，所以得到输出结果是</a:t>
            </a:r>
            <a:r>
              <a:rPr lang="en-US" altLang="zh-CN" dirty="0"/>
              <a:t>“</a:t>
            </a:r>
            <a:r>
              <a:rPr lang="zh-CN" altLang="en-US" dirty="0"/>
              <a:t>好好学</a:t>
            </a:r>
            <a:r>
              <a:rPr lang="en-US" altLang="zh-CN" dirty="0"/>
              <a:t>Python”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3</a:t>
            </a:r>
            <a:r>
              <a:rPr lang="zh-CN" altLang="en-US" dirty="0">
                <a:sym typeface="+mn-ea"/>
              </a:rPr>
              <a:t>）第三行代码类似第二行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928259" y="6547148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3" name="文本框 2"/>
          <p:cNvSpPr txBox="1"/>
          <p:nvPr/>
        </p:nvSpPr>
        <p:spPr>
          <a:xfrm>
            <a:off x="6864350" y="2506980"/>
            <a:ext cx="4806950" cy="133794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dist="50800" dir="108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str=input('输入一门语言名称：')</a:t>
            </a:r>
            <a:endParaRPr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print('好好学{0}'.format(str))</a:t>
            </a:r>
            <a:endParaRPr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print('{0}棒棒的'.format(str))</a:t>
            </a:r>
            <a:endParaRPr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Python</a:t>
            </a:r>
            <a:r>
              <a:rPr lang="zh-CN" altLang="en-US" dirty="0"/>
              <a:t>输入输出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856615" y="2348865"/>
            <a:ext cx="9936480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、带提示信息的输入一个学生姓名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、输出结果类似右图</a:t>
            </a:r>
            <a:endParaRPr lang="zh-CN" altLang="en-US" sz="2400" b="0" dirty="0"/>
          </a:p>
          <a:p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/>
        <p:txBody>
          <a:bodyPr>
            <a:normAutofit/>
          </a:bodyPr>
          <a:p>
            <a:r>
              <a:rPr lang="zh-CN" altLang="en-US"/>
              <a:t>实验扩展：现在请使用</a:t>
            </a:r>
            <a:r>
              <a:rPr lang="en-US" altLang="zh-CN"/>
              <a:t>Python</a:t>
            </a:r>
            <a:r>
              <a:rPr lang="zh-CN" altLang="en-US"/>
              <a:t>完成以下输入输出操作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455" y="4277360"/>
            <a:ext cx="2616835" cy="11398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26960" y="2639695"/>
            <a:ext cx="3723640" cy="1476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实验结果以</a:t>
            </a:r>
            <a:r>
              <a:rPr lang="en-US" altLang="zh-CN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Pycharm</a:t>
            </a:r>
            <a:r>
              <a: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演示为例</a:t>
            </a:r>
            <a:endParaRPr lang="zh-CN" altLang="en-US" sz="2000" b="0" i="0" u="none" strike="noStrike" dirty="0">
              <a:solidFill>
                <a:srgbClr val="12121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绿色字体是键盘输入的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其它黑色文字是程序输出的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Python</a:t>
            </a:r>
            <a:r>
              <a:rPr lang="zh-CN" altLang="en-US" dirty="0"/>
              <a:t>基本运算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822960" y="2212975"/>
            <a:ext cx="9936480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、在一行中长方体的长、宽、高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、输出一行信息，长方体面积和体积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b="0" dirty="0"/>
              <a:t>程序运行结果类似右图</a:t>
            </a:r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Python</a:t>
            </a:r>
            <a:r>
              <a:rPr lang="zh-CN" altLang="en-US"/>
              <a:t>完成长方体面积和体积计算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129145" y="3721735"/>
            <a:ext cx="4679950" cy="2322830"/>
            <a:chOff x="11307" y="4157"/>
            <a:chExt cx="7370" cy="3658"/>
          </a:xfrm>
        </p:grpSpPr>
        <p:sp>
          <p:nvSpPr>
            <p:cNvPr id="2" name="文本框 1"/>
            <p:cNvSpPr txBox="1"/>
            <p:nvPr/>
          </p:nvSpPr>
          <p:spPr>
            <a:xfrm>
              <a:off x="11696" y="4157"/>
              <a:ext cx="5864" cy="2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307" y="6885"/>
              <a:ext cx="7371" cy="93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51485" y="1548130"/>
            <a:ext cx="9656445" cy="3233420"/>
          </a:xfrm>
        </p:spPr>
        <p:txBody>
          <a:bodyPr>
            <a:noAutofit/>
          </a:bodyPr>
          <a:lstStyle/>
          <a:p>
            <a:r>
              <a:rPr lang="zh-CN" altLang="en-US" sz="1600" dirty="0"/>
              <a:t>程序讲解：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）第一行代码使用</a:t>
            </a:r>
            <a:r>
              <a:rPr lang="en-US" altLang="zh-CN" sz="1600" dirty="0"/>
              <a:t>input</a:t>
            </a:r>
            <a:r>
              <a:rPr lang="zh-CN" altLang="en-US" sz="1600" dirty="0"/>
              <a:t>函数实现键盘输入数据，因为在一行中输入三个数值</a:t>
            </a:r>
            <a:r>
              <a:rPr lang="en-US" altLang="zh-CN" sz="1600" dirty="0"/>
              <a:t>(</a:t>
            </a:r>
            <a:r>
              <a:rPr lang="zh-CN" altLang="en-US" sz="1600" dirty="0"/>
              <a:t>用空格隔开</a:t>
            </a:r>
            <a:r>
              <a:rPr lang="en-US" altLang="zh-CN" sz="1600" dirty="0"/>
              <a:t>)</a:t>
            </a:r>
            <a:r>
              <a:rPr lang="zh-CN" altLang="en-US" sz="1600" dirty="0"/>
              <a:t>，所以要用</a:t>
            </a:r>
            <a:r>
              <a:rPr lang="en-US" altLang="zh-CN" sz="1600" dirty="0"/>
              <a:t>split</a:t>
            </a:r>
            <a:r>
              <a:rPr lang="zh-CN" altLang="en-US" sz="1600" dirty="0"/>
              <a:t>方法拆分，分别放入变量</a:t>
            </a:r>
            <a:r>
              <a:rPr lang="en-US" altLang="zh-CN" sz="1600" dirty="0"/>
              <a:t>a</a:t>
            </a:r>
            <a:r>
              <a:rPr lang="zh-CN" altLang="en-US" sz="1600" dirty="0"/>
              <a:t>、</a:t>
            </a:r>
            <a:r>
              <a:rPr lang="en-US" altLang="zh-CN" sz="1600" dirty="0"/>
              <a:t>b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中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）因为默认输入是按字符类型处理，所以接着三行代码用</a:t>
            </a:r>
            <a:r>
              <a:rPr lang="en-US" altLang="zh-CN" sz="1600" dirty="0"/>
              <a:t>float</a:t>
            </a:r>
            <a:r>
              <a:rPr lang="zh-CN" altLang="en-US" sz="1600" dirty="0"/>
              <a:t>函数把变量</a:t>
            </a:r>
            <a:r>
              <a:rPr lang="en-US" altLang="zh-CN" sz="1600" dirty="0"/>
              <a:t>a</a:t>
            </a:r>
            <a:r>
              <a:rPr lang="zh-CN" altLang="en-US" sz="1600" dirty="0"/>
              <a:t>、</a:t>
            </a:r>
            <a:r>
              <a:rPr lang="en-US" altLang="zh-CN" sz="1600" dirty="0"/>
              <a:t>b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的内容变成数值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zh-CN" altLang="en-US" sz="1600" dirty="0"/>
              <a:t>例如把字符</a:t>
            </a:r>
            <a:r>
              <a:rPr lang="en-US" altLang="zh-CN" sz="1600" dirty="0"/>
              <a:t>“1.1”</a:t>
            </a:r>
            <a:r>
              <a:rPr lang="zh-CN" altLang="en-US" sz="1600" dirty="0"/>
              <a:t>变成数值</a:t>
            </a:r>
            <a:r>
              <a:rPr lang="en-US" altLang="zh-CN" sz="1600" dirty="0"/>
              <a:t>1.1</a:t>
            </a:r>
            <a:r>
              <a:rPr lang="zh-CN" altLang="en-US" sz="1600" dirty="0"/>
              <a:t>，这样才能执行加减乘除的运算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3</a:t>
            </a:r>
            <a:r>
              <a:rPr lang="zh-CN" altLang="en-US" sz="1600" dirty="0">
                <a:sym typeface="+mn-ea"/>
              </a:rPr>
              <a:t>）第四行计算长方体面积并放入变量</a:t>
            </a:r>
            <a:r>
              <a:rPr lang="en-US" altLang="zh-CN" sz="1600" dirty="0">
                <a:sym typeface="+mn-ea"/>
              </a:rPr>
              <a:t>area</a:t>
            </a:r>
            <a:r>
              <a:rPr lang="zh-CN" altLang="en-US" sz="1600" dirty="0">
                <a:sym typeface="+mn-ea"/>
              </a:rPr>
              <a:t>中</a:t>
            </a:r>
            <a:endParaRPr lang="zh-CN" altLang="en-US" sz="16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4</a:t>
            </a:r>
            <a:r>
              <a:rPr lang="zh-CN" altLang="en-US" sz="1600" dirty="0">
                <a:sym typeface="+mn-ea"/>
              </a:rPr>
              <a:t>）第五行计算长方体体积并放入变量</a:t>
            </a:r>
            <a:r>
              <a:rPr lang="en-US" altLang="zh-CN" sz="1600" dirty="0">
                <a:sym typeface="+mn-ea"/>
              </a:rPr>
              <a:t>volume</a:t>
            </a:r>
            <a:r>
              <a:rPr lang="zh-CN" altLang="en-US" sz="1600" dirty="0">
                <a:sym typeface="+mn-ea"/>
              </a:rPr>
              <a:t>中</a:t>
            </a:r>
            <a:endParaRPr lang="zh-CN" altLang="en-US" sz="16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5</a:t>
            </a:r>
            <a:r>
              <a:rPr lang="zh-CN" altLang="en-US" sz="1600" dirty="0">
                <a:sym typeface="+mn-ea"/>
              </a:rPr>
              <a:t>）最后一行输出结果，使用了两个占位符</a:t>
            </a:r>
            <a:r>
              <a:rPr lang="en-US" altLang="zh-CN" sz="1600" dirty="0">
                <a:sym typeface="+mn-ea"/>
              </a:rPr>
              <a:t>{0}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{1}</a:t>
            </a:r>
            <a:endParaRPr lang="en-US" altLang="zh-CN" sz="16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/>
              <a:t>按顺序对应变量</a:t>
            </a:r>
            <a:r>
              <a:rPr lang="en-US" altLang="zh-CN" sz="1600" dirty="0"/>
              <a:t>area</a:t>
            </a:r>
            <a:r>
              <a:rPr lang="zh-CN" altLang="en-US" sz="1600" dirty="0"/>
              <a:t>和</a:t>
            </a:r>
            <a:r>
              <a:rPr lang="en-US" altLang="zh-CN" sz="1600" dirty="0"/>
              <a:t>volume</a:t>
            </a:r>
            <a:r>
              <a:rPr lang="zh-CN" altLang="en-US" sz="1600" dirty="0"/>
              <a:t>输出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{0:.2f}</a:t>
            </a:r>
            <a:r>
              <a:rPr lang="zh-CN" altLang="en-US" sz="1600" dirty="0"/>
              <a:t>表示第</a:t>
            </a:r>
            <a:r>
              <a:rPr lang="en-US" altLang="zh-CN" sz="1600" dirty="0"/>
              <a:t>0</a:t>
            </a:r>
            <a:r>
              <a:rPr lang="zh-CN" altLang="en-US" sz="1600" dirty="0"/>
              <a:t>号变量的输出结果精确到小数点后</a:t>
            </a:r>
            <a:r>
              <a:rPr lang="en-US" altLang="zh-CN" sz="1600" dirty="0"/>
              <a:t>2</a:t>
            </a:r>
            <a:r>
              <a:rPr lang="zh-CN" altLang="en-US" sz="1600" dirty="0"/>
              <a:t>位</a:t>
            </a:r>
            <a:endParaRPr lang="zh-CN" altLang="en-US" sz="1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928259" y="6547148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3" name="文本框 2"/>
          <p:cNvSpPr txBox="1"/>
          <p:nvPr/>
        </p:nvSpPr>
        <p:spPr>
          <a:xfrm>
            <a:off x="5626735" y="4055110"/>
            <a:ext cx="6437630" cy="235331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dist="50800" dir="108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a,b,c=input('输入长方体的长宽高（数据用空格隔开）：').split()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a=float(a)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b=float(b)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c=float(c)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area=2*(a*b+b*c+c*a)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volume=a*b*c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print('长方体面积等于{0:.2f}，体积等于{1:.2f}'.format(area, volume))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Python</a:t>
            </a:r>
            <a:r>
              <a:rPr lang="zh-CN" altLang="en-US" dirty="0"/>
              <a:t>基本运算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92760" y="2853055"/>
            <a:ext cx="7120255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、在一行中输入两个华氏温度</a:t>
            </a:r>
            <a:r>
              <a:rPr lang="en-US" altLang="zh-CN" sz="2400" b="0" dirty="0"/>
              <a:t>(</a:t>
            </a:r>
            <a:r>
              <a:rPr lang="zh-CN" altLang="en-US" sz="2400" b="0" dirty="0"/>
              <a:t>浮点数类型</a:t>
            </a:r>
            <a:r>
              <a:rPr lang="en-US" altLang="zh-CN" sz="2400" b="0" dirty="0"/>
              <a:t>)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、输出一行信息，分别输出转换后的摄氏温度，结果精确到小数点后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位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b="0" dirty="0"/>
              <a:t>输出结果类似右图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>
          <a:xfrm>
            <a:off x="1271270" y="1557020"/>
            <a:ext cx="10119995" cy="1139825"/>
          </a:xfrm>
        </p:spPr>
        <p:txBody>
          <a:bodyPr>
            <a:normAutofit fontScale="90000"/>
          </a:bodyPr>
          <a:p>
            <a:r>
              <a:rPr lang="zh-CN" altLang="en-US"/>
              <a:t>实验拓展：把</a:t>
            </a:r>
            <a:r>
              <a:rPr lang="zh-CN" altLang="zh-CN"/>
              <a:t>华氏温度转变为摄氏温度</a:t>
            </a:r>
            <a:endParaRPr lang="zh-CN" altLang="zh-CN"/>
          </a:p>
          <a:p>
            <a:pPr marL="0" lvl="2" indent="0">
              <a:buNone/>
            </a:pPr>
            <a:r>
              <a:rPr lang="zh-CN" altLang="en-US" sz="2800" dirty="0">
                <a:sym typeface="+mn-ea"/>
              </a:rPr>
              <a:t>转换</a:t>
            </a:r>
            <a:r>
              <a:rPr lang="zh-CN" altLang="en-US" sz="2800" dirty="0">
                <a:sym typeface="+mn-ea"/>
              </a:rPr>
              <a:t>公式：C=5(F-32)/9，其中</a:t>
            </a:r>
            <a:r>
              <a:rPr lang="en-US" altLang="zh-CN" sz="2800" dirty="0">
                <a:sym typeface="+mn-ea"/>
              </a:rPr>
              <a:t>C</a:t>
            </a:r>
            <a:r>
              <a:rPr lang="zh-CN" altLang="en-US" sz="2800" dirty="0">
                <a:sym typeface="+mn-ea"/>
              </a:rPr>
              <a:t>是摄氏温度，</a:t>
            </a:r>
            <a:r>
              <a:rPr lang="en-US" altLang="zh-CN" sz="2800" dirty="0">
                <a:sym typeface="+mn-ea"/>
              </a:rPr>
              <a:t>F</a:t>
            </a:r>
            <a:r>
              <a:rPr lang="zh-CN" altLang="en-US" sz="2800" dirty="0">
                <a:sym typeface="+mn-ea"/>
              </a:rPr>
              <a:t>是华氏温度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667625" y="3400425"/>
            <a:ext cx="4110990" cy="2161540"/>
            <a:chOff x="11822" y="4157"/>
            <a:chExt cx="6474" cy="3404"/>
          </a:xfrm>
        </p:grpSpPr>
        <p:sp>
          <p:nvSpPr>
            <p:cNvPr id="2" name="文本框 1"/>
            <p:cNvSpPr txBox="1"/>
            <p:nvPr/>
          </p:nvSpPr>
          <p:spPr>
            <a:xfrm>
              <a:off x="11822" y="4157"/>
              <a:ext cx="5864" cy="2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822" y="6607"/>
              <a:ext cx="6474" cy="95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en-US" altLang="zh-CN" dirty="0"/>
              <a:t>Python</a:t>
            </a:r>
            <a:r>
              <a:rPr lang="zh-CN" altLang="en-US" dirty="0"/>
              <a:t>程序控制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822960" y="2212975"/>
            <a:ext cx="9936480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、在一行中输入用户的姓名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、在一行中输入用户的年龄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3</a:t>
            </a:r>
            <a:r>
              <a:rPr lang="zh-CN" altLang="en-US" sz="2400" b="0" dirty="0"/>
              <a:t>、判断用户年龄达到</a:t>
            </a:r>
            <a:r>
              <a:rPr lang="en-US" altLang="zh-CN" sz="2400" b="0" dirty="0"/>
              <a:t>18</a:t>
            </a:r>
            <a:r>
              <a:rPr lang="zh-CN" altLang="en-US" sz="2400" b="0" dirty="0"/>
              <a:t>岁，并输出相应</a:t>
            </a:r>
            <a:r>
              <a:rPr lang="zh-CN" altLang="en-US" sz="2400" b="0" dirty="0"/>
              <a:t>信息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b="0" dirty="0"/>
              <a:t>程序运行结果类似右图</a:t>
            </a:r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/>
        <p:txBody>
          <a:bodyPr>
            <a:normAutofit/>
          </a:bodyPr>
          <a:p>
            <a:r>
              <a:rPr lang="zh-CN" altLang="en-US"/>
              <a:t>判断用户是否可以报名驾考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8268335" y="1987550"/>
            <a:ext cx="3723640" cy="3829050"/>
            <a:chOff x="13021" y="3130"/>
            <a:chExt cx="5864" cy="6030"/>
          </a:xfrm>
        </p:grpSpPr>
        <p:sp>
          <p:nvSpPr>
            <p:cNvPr id="2" name="文本框 1"/>
            <p:cNvSpPr txBox="1"/>
            <p:nvPr/>
          </p:nvSpPr>
          <p:spPr>
            <a:xfrm>
              <a:off x="13021" y="3130"/>
              <a:ext cx="5864" cy="3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以下是程序执行两次的结果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021" y="6476"/>
              <a:ext cx="2160" cy="12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21" y="7900"/>
              <a:ext cx="2340" cy="12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51485" y="1548130"/>
            <a:ext cx="9656445" cy="3233420"/>
          </a:xfrm>
        </p:spPr>
        <p:txBody>
          <a:bodyPr>
            <a:noAutofit/>
          </a:bodyPr>
          <a:lstStyle/>
          <a:p>
            <a:r>
              <a:rPr lang="zh-CN" altLang="en-US" sz="1800" dirty="0"/>
              <a:t>程序讲解：</a:t>
            </a:r>
            <a:endParaRPr lang="zh-CN" altLang="en-US" sz="1800" dirty="0"/>
          </a:p>
          <a:p>
            <a:pPr>
              <a:lnSpc>
                <a:spcPct val="100000"/>
              </a:lnSpc>
            </a:pPr>
            <a:r>
              <a:rPr lang="en-US" altLang="zh-CN" sz="1800" dirty="0"/>
              <a:t>1</a:t>
            </a:r>
            <a:r>
              <a:rPr lang="zh-CN" altLang="en-US" sz="1800" dirty="0"/>
              <a:t>）第一行代码使用</a:t>
            </a:r>
            <a:r>
              <a:rPr lang="en-US" altLang="zh-CN" sz="1800" dirty="0"/>
              <a:t>input</a:t>
            </a:r>
            <a:r>
              <a:rPr lang="zh-CN" altLang="en-US" sz="1800" dirty="0"/>
              <a:t>函数输入姓名，保存在变量</a:t>
            </a:r>
            <a:r>
              <a:rPr lang="en-US" altLang="zh-CN" sz="1800" dirty="0"/>
              <a:t>sname</a:t>
            </a:r>
            <a:r>
              <a:rPr lang="zh-CN" altLang="en-US" sz="1800" dirty="0"/>
              <a:t>中，它的类型是字符串</a:t>
            </a:r>
            <a:endParaRPr lang="zh-CN" altLang="en-US" sz="1800" dirty="0"/>
          </a:p>
          <a:p>
            <a:pPr>
              <a:lnSpc>
                <a:spcPct val="100000"/>
              </a:lnSpc>
            </a:pPr>
            <a:r>
              <a:rPr lang="en-US" altLang="zh-CN" sz="1800" dirty="0"/>
              <a:t>2</a:t>
            </a:r>
            <a:r>
              <a:rPr lang="zh-CN" altLang="en-US" sz="1800" dirty="0"/>
              <a:t>）第二行代码使用</a:t>
            </a:r>
            <a:r>
              <a:rPr lang="en-US" altLang="zh-CN" sz="1800" dirty="0"/>
              <a:t>input</a:t>
            </a:r>
            <a:r>
              <a:rPr lang="zh-CN" altLang="en-US" sz="1800" dirty="0"/>
              <a:t>函数输入年龄，并且嵌套函数的方法，使用</a:t>
            </a:r>
            <a:r>
              <a:rPr lang="en-US" altLang="zh-CN" sz="1800" dirty="0"/>
              <a:t>int</a:t>
            </a:r>
            <a:r>
              <a:rPr lang="zh-CN" altLang="en-US" sz="1800" dirty="0"/>
              <a:t>函数把输入的年龄转化为整数类型，所以变量</a:t>
            </a:r>
            <a:r>
              <a:rPr lang="en-US" altLang="zh-CN" sz="1800" dirty="0"/>
              <a:t>age</a:t>
            </a:r>
            <a:r>
              <a:rPr lang="zh-CN" altLang="en-US" sz="1800" dirty="0"/>
              <a:t>的类型是整数，可以做比较运算</a:t>
            </a:r>
            <a:endParaRPr lang="zh-CN" altLang="en-US" sz="1800" dirty="0"/>
          </a:p>
          <a:p>
            <a:pPr>
              <a:lnSpc>
                <a:spcPct val="100000"/>
              </a:lnSpc>
            </a:pPr>
            <a:r>
              <a:rPr lang="en-US" altLang="zh-CN" sz="1800" dirty="0"/>
              <a:t>3</a:t>
            </a:r>
            <a:r>
              <a:rPr lang="zh-CN" altLang="en-US" sz="1800" dirty="0">
                <a:sym typeface="+mn-ea"/>
              </a:rPr>
              <a:t>）接着是</a:t>
            </a:r>
            <a:r>
              <a:rPr lang="en-US" altLang="zh-CN" sz="1800" dirty="0">
                <a:sym typeface="+mn-ea"/>
              </a:rPr>
              <a:t>if.....else.....</a:t>
            </a:r>
            <a:r>
              <a:rPr lang="zh-CN" altLang="en-US" sz="1800" dirty="0">
                <a:sym typeface="+mn-ea"/>
              </a:rPr>
              <a:t>语句块，实现对年龄的判断，并做相应的输出</a:t>
            </a:r>
            <a:endParaRPr lang="zh-CN" altLang="en-US" sz="1800" dirty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928259" y="6547148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3" name="文本框 2"/>
          <p:cNvSpPr txBox="1"/>
          <p:nvPr/>
        </p:nvSpPr>
        <p:spPr>
          <a:xfrm>
            <a:off x="5233670" y="3903345"/>
            <a:ext cx="6437630" cy="20300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dist="50800" dir="108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sname =input('输入姓名：')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age=int(input('输入年龄：'))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if age&gt;=18: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  print('{0}可以参加驾考'.format(sname))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else: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179705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  print('{0}未达到驾考年龄'.format(sname))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三、</a:t>
            </a:r>
            <a:r>
              <a:rPr lang="en-US" altLang="zh-CN" dirty="0">
                <a:sym typeface="+mn-ea"/>
              </a:rPr>
              <a:t>Python</a:t>
            </a:r>
            <a:r>
              <a:rPr lang="zh-CN" altLang="en-US" dirty="0">
                <a:sym typeface="+mn-ea"/>
              </a:rPr>
              <a:t>程序控制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805815" y="2870200"/>
            <a:ext cx="6604635" cy="1823720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步骤：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、在一行中客户姓名和</a:t>
            </a:r>
            <a:r>
              <a:rPr lang="zh-CN" altLang="en-US" sz="2400" b="0" dirty="0"/>
              <a:t>身高</a:t>
            </a:r>
            <a:r>
              <a:rPr lang="en-US" altLang="zh-CN" sz="2400" b="0" dirty="0"/>
              <a:t>(</a:t>
            </a:r>
            <a:r>
              <a:rPr lang="zh-CN" altLang="en-US" sz="2400" b="0" dirty="0"/>
              <a:t>浮点数</a:t>
            </a:r>
            <a:r>
              <a:rPr lang="en-US" altLang="zh-CN" sz="2400" b="0" dirty="0"/>
              <a:t>)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、根据身高判断，输出相应的信息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b="0" dirty="0"/>
              <a:t>输出结果类似右图</a:t>
            </a:r>
            <a:endParaRPr lang="zh-CN" altLang="en-US" sz="2400" b="0" dirty="0"/>
          </a:p>
          <a:p>
            <a:pPr marL="914400" lvl="2" indent="0">
              <a:lnSpc>
                <a:spcPct val="150000"/>
              </a:lnSpc>
              <a:buNone/>
            </a:pPr>
            <a:endParaRPr lang="zh-CN" altLang="en-US" sz="2400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>
          <a:xfrm>
            <a:off x="1271270" y="1557020"/>
            <a:ext cx="10119995" cy="1139825"/>
          </a:xfrm>
        </p:spPr>
        <p:txBody>
          <a:bodyPr>
            <a:normAutofit fontScale="90000" lnSpcReduction="20000"/>
          </a:bodyPr>
          <a:p>
            <a:r>
              <a:rPr lang="zh-CN" altLang="en-US"/>
              <a:t>实验拓展：某餐厅要求身高超过</a:t>
            </a:r>
            <a:r>
              <a:rPr lang="en-US" altLang="zh-CN"/>
              <a:t>1.1</a:t>
            </a:r>
            <a:r>
              <a:rPr lang="zh-CN" altLang="en-US"/>
              <a:t>米</a:t>
            </a:r>
            <a:r>
              <a:rPr lang="en-US" altLang="zh-CN"/>
              <a:t>(</a:t>
            </a:r>
            <a:r>
              <a:rPr lang="zh-CN" altLang="en-US"/>
              <a:t>含</a:t>
            </a:r>
            <a:r>
              <a:rPr lang="en-US" altLang="zh-CN"/>
              <a:t>1.1</a:t>
            </a:r>
            <a:r>
              <a:rPr lang="zh-CN" altLang="en-US"/>
              <a:t>米</a:t>
            </a:r>
            <a:r>
              <a:rPr lang="en-US" altLang="zh-CN"/>
              <a:t>)</a:t>
            </a:r>
            <a:r>
              <a:rPr lang="zh-CN" altLang="en-US"/>
              <a:t>的客户用餐要收费，否则免费用餐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920990" y="2291715"/>
            <a:ext cx="3723640" cy="3395345"/>
            <a:chOff x="12474" y="3609"/>
            <a:chExt cx="5864" cy="5347"/>
          </a:xfrm>
        </p:grpSpPr>
        <p:sp>
          <p:nvSpPr>
            <p:cNvPr id="3" name="文本框 2"/>
            <p:cNvSpPr txBox="1"/>
            <p:nvPr/>
          </p:nvSpPr>
          <p:spPr>
            <a:xfrm>
              <a:off x="12474" y="3609"/>
              <a:ext cx="5864" cy="3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以下是程序执行两次的结果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474" y="6770"/>
              <a:ext cx="5531" cy="101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74" y="8014"/>
              <a:ext cx="5413" cy="94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三、</a:t>
            </a:r>
            <a:r>
              <a:rPr lang="en-US" altLang="zh-CN" dirty="0">
                <a:sym typeface="+mn-ea"/>
              </a:rPr>
              <a:t>Python</a:t>
            </a:r>
            <a:r>
              <a:rPr lang="zh-CN" altLang="en-US" dirty="0">
                <a:sym typeface="+mn-ea"/>
              </a:rPr>
              <a:t>程序控制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248285" y="2870200"/>
            <a:ext cx="7778750" cy="1823720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步骤：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、输入</a:t>
            </a:r>
            <a:r>
              <a:rPr lang="zh-CN" altLang="en-US" b="0" dirty="0"/>
              <a:t>客户姓名、年龄（整数）、身高</a:t>
            </a:r>
            <a:r>
              <a:rPr lang="en-US" altLang="zh-CN" b="0" dirty="0"/>
              <a:t>(</a:t>
            </a:r>
            <a:r>
              <a:rPr lang="zh-CN" altLang="en-US" b="0" dirty="0"/>
              <a:t>浮点数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b="0" dirty="0"/>
              <a:t>2</a:t>
            </a:r>
            <a:r>
              <a:rPr lang="zh-CN" altLang="en-US" b="0" dirty="0"/>
              <a:t>、把年龄和身高转换为合适的数值类型</a:t>
            </a:r>
            <a:endParaRPr lang="zh-CN" altLang="en-US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b="0" dirty="0"/>
              <a:t>3</a:t>
            </a:r>
            <a:r>
              <a:rPr lang="zh-CN" altLang="en-US" b="0" dirty="0"/>
              <a:t>、组合条件判断，并</a:t>
            </a:r>
            <a:r>
              <a:rPr lang="zh-CN" altLang="en-US" b="0" dirty="0"/>
              <a:t>输出相应的信息，输出结果类似右图</a:t>
            </a:r>
            <a:endParaRPr lang="zh-CN" altLang="en-US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b="0" dirty="0"/>
              <a:t>组合判断类似：</a:t>
            </a:r>
            <a:r>
              <a:rPr lang="en-US" altLang="zh-CN" b="0" dirty="0"/>
              <a:t>if </a:t>
            </a:r>
            <a:r>
              <a:rPr lang="zh-CN" altLang="en-US" b="0" dirty="0"/>
              <a:t>条件</a:t>
            </a:r>
            <a:r>
              <a:rPr lang="en-US" altLang="zh-CN" b="0" dirty="0"/>
              <a:t>1 and </a:t>
            </a:r>
            <a:r>
              <a:rPr lang="zh-CN" altLang="en-US" b="0" dirty="0"/>
              <a:t>条件</a:t>
            </a:r>
            <a:r>
              <a:rPr lang="en-US" altLang="zh-CN" b="0" dirty="0"/>
              <a:t>2 :</a:t>
            </a:r>
            <a:endParaRPr lang="en-US" altLang="zh-CN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b="0" dirty="0"/>
              <a:t>                     .......</a:t>
            </a:r>
            <a:endParaRPr lang="en-US" altLang="zh-CN" b="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b="0" dirty="0"/>
              <a:t>               </a:t>
            </a:r>
            <a:endParaRPr lang="en-US" altLang="zh-CN" b="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921417" y="6547147"/>
            <a:ext cx="2743200" cy="310853"/>
          </a:xfrm>
        </p:spPr>
        <p:txBody>
          <a:bodyPr/>
          <a:lstStyle/>
          <a:p>
            <a:pPr lvl="0"/>
            <a:fld id="{9A0DB2DC-4C9A-4742-B13C-FB6460FD3503}" type="slidenum">
              <a:rPr lang="en-US" altLang="zh-CN" noProof="1" smtClean="0"/>
            </a:fld>
            <a:endParaRPr lang="en-US" altLang="zh-CN" noProof="1"/>
          </a:p>
        </p:txBody>
      </p:sp>
      <p:sp>
        <p:nvSpPr>
          <p:cNvPr id="5" name="文本占位符 4"/>
          <p:cNvSpPr/>
          <p:nvPr>
            <p:ph type="body" sz="quarter" idx="13"/>
          </p:nvPr>
        </p:nvSpPr>
        <p:spPr>
          <a:xfrm>
            <a:off x="1271270" y="1557020"/>
            <a:ext cx="10119995" cy="1139825"/>
          </a:xfrm>
        </p:spPr>
        <p:txBody>
          <a:bodyPr>
            <a:normAutofit fontScale="90000" lnSpcReduction="20000"/>
          </a:bodyPr>
          <a:p>
            <a:r>
              <a:rPr lang="zh-CN" altLang="en-US"/>
              <a:t>实验拓展：某公园要求年龄不超过</a:t>
            </a:r>
            <a:r>
              <a:rPr lang="en-US" altLang="zh-CN"/>
              <a:t>6</a:t>
            </a:r>
            <a:r>
              <a:rPr lang="zh-CN" altLang="en-US"/>
              <a:t>岁且身高不超过</a:t>
            </a:r>
            <a:r>
              <a:rPr lang="en-US" altLang="zh-CN"/>
              <a:t>1.2</a:t>
            </a:r>
            <a:r>
              <a:rPr lang="zh-CN" altLang="en-US"/>
              <a:t>米的儿童可以免费游玩，否则要收</a:t>
            </a:r>
            <a:r>
              <a:rPr lang="en-US" altLang="zh-CN"/>
              <a:t>100</a:t>
            </a:r>
            <a:r>
              <a:rPr lang="zh-CN" altLang="en-US"/>
              <a:t>元门票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8098790" y="2578735"/>
            <a:ext cx="3723640" cy="3182620"/>
            <a:chOff x="12487" y="3635"/>
            <a:chExt cx="5864" cy="5012"/>
          </a:xfrm>
        </p:grpSpPr>
        <p:sp>
          <p:nvSpPr>
            <p:cNvPr id="3" name="文本框 2"/>
            <p:cNvSpPr txBox="1"/>
            <p:nvPr/>
          </p:nvSpPr>
          <p:spPr>
            <a:xfrm>
              <a:off x="12487" y="3635"/>
              <a:ext cx="5864" cy="3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实验结果以</a:t>
              </a:r>
              <a:r>
                <a:rPr lang="en-US" altLang="zh-CN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Pycharm</a:t>
              </a:r>
              <a:r>
                <a:rPr lang="zh-CN" altLang="en-US" sz="2000" b="0" i="0" u="none" strike="noStrike" dirty="0">
                  <a:solidFill>
                    <a:srgbClr val="121212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演示为例</a:t>
              </a:r>
              <a:endParaRPr lang="zh-CN" altLang="en-US" sz="2000" b="0" i="0" u="none" strike="noStrike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绿色字体是键盘输入的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其它黑色文字是程序输出的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以下是程序执行两次的结果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84" y="6793"/>
              <a:ext cx="5670" cy="82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69" y="7823"/>
              <a:ext cx="5685" cy="82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2079</Words>
  <Application>WPS 演示</Application>
  <PresentationFormat>宽屏</PresentationFormat>
  <Paragraphs>174</Paragraphs>
  <Slides>13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Tahoma</vt:lpstr>
      <vt:lpstr>Copperplate Gothic Bold</vt:lpstr>
      <vt:lpstr>微软雅黑</vt:lpstr>
      <vt:lpstr>黑体</vt:lpstr>
      <vt:lpstr>Calibri</vt:lpstr>
      <vt:lpstr>Arial Unicode MS</vt:lpstr>
      <vt:lpstr>等线</vt:lpstr>
      <vt:lpstr>Office 主题</vt:lpstr>
      <vt:lpstr>Python程序设计入门与实践</vt:lpstr>
      <vt:lpstr>PowerPoint 演示文稿</vt:lpstr>
      <vt:lpstr>一、Python输入输出</vt:lpstr>
      <vt:lpstr>PowerPoint 演示文稿</vt:lpstr>
      <vt:lpstr>一、Python输入输出</vt:lpstr>
      <vt:lpstr>二、Python基本运算</vt:lpstr>
      <vt:lpstr>PowerPoint 演示文稿</vt:lpstr>
      <vt:lpstr>二、Python基本运算</vt:lpstr>
      <vt:lpstr>二、Python基本运算</vt:lpstr>
      <vt:lpstr>PowerPoint 演示文稿</vt:lpstr>
      <vt:lpstr>二、Python基本运算</vt:lpstr>
      <vt:lpstr>三、Python程序控制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信息资源管理</dc:title>
  <dc:creator>AndrewandPipi</dc:creator>
  <cp:lastModifiedBy>bai</cp:lastModifiedBy>
  <cp:revision>201</cp:revision>
  <dcterms:created xsi:type="dcterms:W3CDTF">2011-02-28T11:45:00Z</dcterms:created>
  <dcterms:modified xsi:type="dcterms:W3CDTF">2023-04-10T14:25:51Z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  <property fmtid="{D5CDD505-2E9C-101B-9397-08002B2CF9AE}" pid="3" name="ICV">
    <vt:lpwstr>7FEBFCA279E642E7B6CC0C928DA73069</vt:lpwstr>
  </property>
</Properties>
</file>